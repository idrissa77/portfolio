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 id="2147483775" r:id="rId2"/>
  </p:sldMasterIdLst>
  <p:notesMasterIdLst>
    <p:notesMasterId r:id="rId14"/>
  </p:notesMasterIdLst>
  <p:handoutMasterIdLst>
    <p:handoutMasterId r:id="rId15"/>
  </p:handoutMasterIdLst>
  <p:sldIdLst>
    <p:sldId id="256" r:id="rId3"/>
    <p:sldId id="258" r:id="rId4"/>
    <p:sldId id="259" r:id="rId5"/>
    <p:sldId id="260" r:id="rId6"/>
    <p:sldId id="261" r:id="rId7"/>
    <p:sldId id="262" r:id="rId8"/>
    <p:sldId id="267" r:id="rId9"/>
    <p:sldId id="263" r:id="rId10"/>
    <p:sldId id="264" r:id="rId11"/>
    <p:sldId id="266" r:id="rId12"/>
    <p:sldId id="26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3705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3969" autoAdjust="0"/>
  </p:normalViewPr>
  <p:slideViewPr>
    <p:cSldViewPr snapToGrid="0">
      <p:cViewPr varScale="1">
        <p:scale>
          <a:sx n="64" d="100"/>
          <a:sy n="64" d="100"/>
        </p:scale>
        <p:origin x="954" y="78"/>
      </p:cViewPr>
      <p:guideLst/>
    </p:cSldViewPr>
  </p:slideViewPr>
  <p:outlineViewPr>
    <p:cViewPr>
      <p:scale>
        <a:sx n="33" d="100"/>
        <a:sy n="33" d="100"/>
      </p:scale>
      <p:origin x="0" y="-294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24AE6804-F2FC-2CDA-A9DA-C4CBAF8CE8A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a:extLst>
              <a:ext uri="{FF2B5EF4-FFF2-40B4-BE49-F238E27FC236}">
                <a16:creationId xmlns:a16="http://schemas.microsoft.com/office/drawing/2014/main" id="{CE4F33E9-B17A-9714-AE81-0F527ECB1CC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79BC145-F9E0-48AC-9BDE-1EB42374CA16}" type="datetimeFigureOut">
              <a:rPr lang="en-US" smtClean="0"/>
              <a:t>1/24/2026</a:t>
            </a:fld>
            <a:endParaRPr lang="en-US"/>
          </a:p>
        </p:txBody>
      </p:sp>
      <p:sp>
        <p:nvSpPr>
          <p:cNvPr id="4" name="Espace réservé du pied de page 3">
            <a:extLst>
              <a:ext uri="{FF2B5EF4-FFF2-40B4-BE49-F238E27FC236}">
                <a16:creationId xmlns:a16="http://schemas.microsoft.com/office/drawing/2014/main" id="{F820C870-0DC0-4278-8369-F818831C9BC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Espace réservé du numéro de diapositive 4">
            <a:extLst>
              <a:ext uri="{FF2B5EF4-FFF2-40B4-BE49-F238E27FC236}">
                <a16:creationId xmlns:a16="http://schemas.microsoft.com/office/drawing/2014/main" id="{5DAA9346-7BE8-76D4-D129-F9FAEA11418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39D39AB-2BA4-44A3-925D-3DB3AC7324E1}" type="slidenum">
              <a:rPr lang="en-US" smtClean="0"/>
              <a:t>‹N°›</a:t>
            </a:fld>
            <a:endParaRPr lang="en-US"/>
          </a:p>
        </p:txBody>
      </p:sp>
    </p:spTree>
    <p:extLst>
      <p:ext uri="{BB962C8B-B14F-4D97-AF65-F5344CB8AC3E}">
        <p14:creationId xmlns:p14="http://schemas.microsoft.com/office/powerpoint/2010/main" val="270784003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ED9BC1-699C-433E-9932-BD967EA7DB15}" type="datetimeFigureOut">
              <a:rPr lang="en-US" smtClean="0"/>
              <a:t>1/23/2026</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0874E9-2F62-47F0-A003-F9F42E85D985}" type="slidenum">
              <a:rPr lang="en-US" smtClean="0"/>
              <a:t>‹N°›</a:t>
            </a:fld>
            <a:endParaRPr lang="en-US"/>
          </a:p>
        </p:txBody>
      </p:sp>
    </p:spTree>
    <p:extLst>
      <p:ext uri="{BB962C8B-B14F-4D97-AF65-F5344CB8AC3E}">
        <p14:creationId xmlns:p14="http://schemas.microsoft.com/office/powerpoint/2010/main" val="109707976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A10874E9-2F62-47F0-A003-F9F42E85D985}" type="slidenum">
              <a:rPr lang="en-US" smtClean="0"/>
              <a:t>1</a:t>
            </a:fld>
            <a:endParaRPr lang="en-US"/>
          </a:p>
        </p:txBody>
      </p:sp>
    </p:spTree>
    <p:extLst>
      <p:ext uri="{BB962C8B-B14F-4D97-AF65-F5344CB8AC3E}">
        <p14:creationId xmlns:p14="http://schemas.microsoft.com/office/powerpoint/2010/main" val="448737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A10874E9-2F62-47F0-A003-F9F42E85D985}" type="slidenum">
              <a:rPr lang="en-US" smtClean="0"/>
              <a:t>5</a:t>
            </a:fld>
            <a:endParaRPr lang="en-US"/>
          </a:p>
        </p:txBody>
      </p:sp>
    </p:spTree>
    <p:extLst>
      <p:ext uri="{BB962C8B-B14F-4D97-AF65-F5344CB8AC3E}">
        <p14:creationId xmlns:p14="http://schemas.microsoft.com/office/powerpoint/2010/main" val="1188620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fr-FR"/>
              <a:t>Modifiez le style du titre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29C4A680-AEAB-4BBF-87EE-A0EFB413C6A5}" type="datetime1">
              <a:rPr lang="en-US" smtClean="0"/>
              <a:t>1/24/2026</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5D6484A1-CC52-44C7-BFE1-91FF3DDB54BD}" type="slidenum">
              <a:rPr lang="en-US" smtClean="0"/>
              <a:t>‹N°›</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936190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79015AE-B258-4CFC-A86C-9B3E8B98E292}" type="datetime1">
              <a:rPr lang="en-US" smtClean="0"/>
              <a:t>1/24/2026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6484A1-CC52-44C7-BFE1-91FF3DDB54BD}" type="slidenum">
              <a:rPr lang="en-US" smtClean="0"/>
              <a:t>‹N°›</a:t>
            </a:fld>
            <a:endParaRPr lang="en-US"/>
          </a:p>
        </p:txBody>
      </p:sp>
    </p:spTree>
    <p:extLst>
      <p:ext uri="{BB962C8B-B14F-4D97-AF65-F5344CB8AC3E}">
        <p14:creationId xmlns:p14="http://schemas.microsoft.com/office/powerpoint/2010/main" val="2208102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fr-FR"/>
              <a:t>Modifiez le style du titre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5B1C3C5F-4D8F-48DC-9BA2-8AFFD60465A6}" type="datetime1">
              <a:rPr lang="en-US" smtClean="0"/>
              <a:t>1/24/2026</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5D6484A1-CC52-44C7-BFE1-91FF3DDB54BD}" type="slidenum">
              <a:rPr lang="en-US" smtClean="0"/>
              <a:t>‹N°›</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38378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fr-FR"/>
              <a:t>Modifiez le style du titre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D4E228CB-C0F6-4DAA-8937-B52C7AA04D4E}" type="datetime1">
              <a:rPr lang="en-US" smtClean="0"/>
              <a:t>1/24/2026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6484A1-CC52-44C7-BFE1-91FF3DDB54BD}" type="slidenum">
              <a:rPr lang="en-US" smtClean="0"/>
              <a:t>‹N°›</a:t>
            </a:fld>
            <a:endParaRPr lang="en-US"/>
          </a:p>
        </p:txBody>
      </p:sp>
    </p:spTree>
    <p:extLst>
      <p:ext uri="{BB962C8B-B14F-4D97-AF65-F5344CB8AC3E}">
        <p14:creationId xmlns:p14="http://schemas.microsoft.com/office/powerpoint/2010/main" val="4185318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fr-FR"/>
              <a:t>Modifiez le style du titre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AEBE0C5A-9EBB-4A07-B119-95E9E578F86E}" type="datetime1">
              <a:rPr lang="en-US" smtClean="0"/>
              <a:t>1/24/2026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D6484A1-CC52-44C7-BFE1-91FF3DDB54BD}" type="slidenum">
              <a:rPr lang="en-US" smtClean="0"/>
              <a:t>‹N°›</a:t>
            </a:fld>
            <a:endParaRPr lang="en-US"/>
          </a:p>
        </p:txBody>
      </p:sp>
    </p:spTree>
    <p:extLst>
      <p:ext uri="{BB962C8B-B14F-4D97-AF65-F5344CB8AC3E}">
        <p14:creationId xmlns:p14="http://schemas.microsoft.com/office/powerpoint/2010/main" val="39467821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DB560CD3-D696-42A9-B8C6-E17851667855}" type="datetime1">
              <a:rPr lang="en-US" smtClean="0"/>
              <a:t>1/24/2026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6484A1-CC52-44C7-BFE1-91FF3DDB54BD}" type="slidenum">
              <a:rPr lang="en-US" smtClean="0"/>
              <a:t>‹N°›</a:t>
            </a:fld>
            <a:endParaRPr lang="en-US"/>
          </a:p>
        </p:txBody>
      </p:sp>
    </p:spTree>
    <p:extLst>
      <p:ext uri="{BB962C8B-B14F-4D97-AF65-F5344CB8AC3E}">
        <p14:creationId xmlns:p14="http://schemas.microsoft.com/office/powerpoint/2010/main" val="2712712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EF1375-2352-4A25-A6D7-9CBF19200CCD}" type="datetime1">
              <a:rPr lang="en-US" smtClean="0"/>
              <a:t>1/24/2026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D6484A1-CC52-44C7-BFE1-91FF3DDB54BD}" type="slidenum">
              <a:rPr lang="en-US" smtClean="0"/>
              <a:t>‹N°›</a:t>
            </a:fld>
            <a:endParaRPr lang="en-US"/>
          </a:p>
        </p:txBody>
      </p:sp>
    </p:spTree>
    <p:extLst>
      <p:ext uri="{BB962C8B-B14F-4D97-AF65-F5344CB8AC3E}">
        <p14:creationId xmlns:p14="http://schemas.microsoft.com/office/powerpoint/2010/main" val="3567930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fr-FR"/>
              <a:t>Modifiez le style du titre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F1A07B4-B89F-47AD-B355-74F433A7DD37}" type="datetime1">
              <a:rPr lang="en-US" smtClean="0"/>
              <a:t>1/24/2026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5D6484A1-CC52-44C7-BFE1-91FF3DDB54BD}" type="slidenum">
              <a:rPr lang="en-US" smtClean="0"/>
              <a:t>‹N°›</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636822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fr-FR"/>
              <a:t>Modifiez le style du titre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0B8AFC31-E976-473E-AFC4-EAF618D72599}" type="datetime1">
              <a:rPr lang="en-US" smtClean="0"/>
              <a:t>1/24/2026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5D6484A1-CC52-44C7-BFE1-91FF3DDB54BD}" type="slidenum">
              <a:rPr lang="en-US" smtClean="0"/>
              <a:t>‹N°›</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85063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AD0657DF-91E5-453B-A249-1AF7D49B670C}" type="datetime1">
              <a:rPr lang="en-US" smtClean="0"/>
              <a:t>1/24/2026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6484A1-CC52-44C7-BFE1-91FF3DDB54BD}" type="slidenum">
              <a:rPr lang="en-US" smtClean="0"/>
              <a:t>‹N°›</a:t>
            </a:fld>
            <a:endParaRPr lang="en-US"/>
          </a:p>
        </p:txBody>
      </p:sp>
    </p:spTree>
    <p:extLst>
      <p:ext uri="{BB962C8B-B14F-4D97-AF65-F5344CB8AC3E}">
        <p14:creationId xmlns:p14="http://schemas.microsoft.com/office/powerpoint/2010/main" val="2390184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CDFCB56-68B2-47D2-B290-835326060114}" type="datetime1">
              <a:rPr lang="en-US" smtClean="0"/>
              <a:t>1/24/2026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6484A1-CC52-44C7-BFE1-91FF3DDB54BD}" type="slidenum">
              <a:rPr lang="en-US" smtClean="0"/>
              <a:t>‹N°›</a:t>
            </a:fld>
            <a:endParaRPr lang="en-US"/>
          </a:p>
        </p:txBody>
      </p:sp>
    </p:spTree>
    <p:extLst>
      <p:ext uri="{BB962C8B-B14F-4D97-AF65-F5344CB8AC3E}">
        <p14:creationId xmlns:p14="http://schemas.microsoft.com/office/powerpoint/2010/main" val="39916138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9CB007-F0AA-FC08-E41E-25A0AC2A89C9}"/>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5305C394-E364-473D-74CC-B34A35CD0D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Espace réservé de la date 3">
            <a:extLst>
              <a:ext uri="{FF2B5EF4-FFF2-40B4-BE49-F238E27FC236}">
                <a16:creationId xmlns:a16="http://schemas.microsoft.com/office/drawing/2014/main" id="{C1A07A82-3D7E-0841-70BD-AB42C914D3D3}"/>
              </a:ext>
            </a:extLst>
          </p:cNvPr>
          <p:cNvSpPr>
            <a:spLocks noGrp="1"/>
          </p:cNvSpPr>
          <p:nvPr>
            <p:ph type="dt" sz="half" idx="10"/>
          </p:nvPr>
        </p:nvSpPr>
        <p:spPr/>
        <p:txBody>
          <a:bodyPr/>
          <a:lstStyle/>
          <a:p>
            <a:fld id="{FC975F30-6276-4B65-A1B4-467B0C6CD9AA}" type="datetime1">
              <a:rPr lang="en-US" smtClean="0"/>
              <a:t>1/24/2026</a:t>
            </a:fld>
            <a:endParaRPr lang="en-US"/>
          </a:p>
        </p:txBody>
      </p:sp>
      <p:sp>
        <p:nvSpPr>
          <p:cNvPr id="5" name="Espace réservé du pied de page 4">
            <a:extLst>
              <a:ext uri="{FF2B5EF4-FFF2-40B4-BE49-F238E27FC236}">
                <a16:creationId xmlns:a16="http://schemas.microsoft.com/office/drawing/2014/main" id="{C645C486-52AE-6027-DC5B-7E1E992BA25A}"/>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C58ED354-D57C-3DFB-974F-7BCC4EAC9586}"/>
              </a:ext>
            </a:extLst>
          </p:cNvPr>
          <p:cNvSpPr>
            <a:spLocks noGrp="1"/>
          </p:cNvSpPr>
          <p:nvPr>
            <p:ph type="sldNum" sz="quarter" idx="12"/>
          </p:nvPr>
        </p:nvSpPr>
        <p:spPr/>
        <p:txBody>
          <a:bodyPr/>
          <a:lstStyle/>
          <a:p>
            <a:fld id="{5D6484A1-CC52-44C7-BFE1-91FF3DDB54BD}" type="slidenum">
              <a:rPr lang="en-US" smtClean="0"/>
              <a:t>‹N°›</a:t>
            </a:fld>
            <a:endParaRPr lang="en-US"/>
          </a:p>
        </p:txBody>
      </p:sp>
    </p:spTree>
    <p:extLst>
      <p:ext uri="{BB962C8B-B14F-4D97-AF65-F5344CB8AC3E}">
        <p14:creationId xmlns:p14="http://schemas.microsoft.com/office/powerpoint/2010/main" val="29683197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E3A6A2-F6D5-EF84-E474-D69B3D367B95}"/>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BCCB1787-44CC-5FBE-AA1B-FEBADA74EDFD}"/>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5496E78E-AB1A-90AF-21C6-6E378A8FB55D}"/>
              </a:ext>
            </a:extLst>
          </p:cNvPr>
          <p:cNvSpPr>
            <a:spLocks noGrp="1"/>
          </p:cNvSpPr>
          <p:nvPr>
            <p:ph type="dt" sz="half" idx="10"/>
          </p:nvPr>
        </p:nvSpPr>
        <p:spPr/>
        <p:txBody>
          <a:bodyPr/>
          <a:lstStyle/>
          <a:p>
            <a:fld id="{D8037D3C-CC12-42F0-9B99-CFB38D0F4E64}" type="datetime1">
              <a:rPr lang="en-US" smtClean="0"/>
              <a:t>1/24/2026</a:t>
            </a:fld>
            <a:endParaRPr lang="en-US"/>
          </a:p>
        </p:txBody>
      </p:sp>
      <p:sp>
        <p:nvSpPr>
          <p:cNvPr id="5" name="Espace réservé du pied de page 4">
            <a:extLst>
              <a:ext uri="{FF2B5EF4-FFF2-40B4-BE49-F238E27FC236}">
                <a16:creationId xmlns:a16="http://schemas.microsoft.com/office/drawing/2014/main" id="{CBB66463-53E0-4FE8-4E71-5C5B645C1BD4}"/>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C4AC774E-2204-5377-9DBC-3C71C14711A0}"/>
              </a:ext>
            </a:extLst>
          </p:cNvPr>
          <p:cNvSpPr>
            <a:spLocks noGrp="1"/>
          </p:cNvSpPr>
          <p:nvPr>
            <p:ph type="sldNum" sz="quarter" idx="12"/>
          </p:nvPr>
        </p:nvSpPr>
        <p:spPr/>
        <p:txBody>
          <a:bodyPr/>
          <a:lstStyle/>
          <a:p>
            <a:fld id="{5D6484A1-CC52-44C7-BFE1-91FF3DDB54BD}" type="slidenum">
              <a:rPr lang="en-US" smtClean="0"/>
              <a:t>‹N°›</a:t>
            </a:fld>
            <a:endParaRPr lang="en-US"/>
          </a:p>
        </p:txBody>
      </p:sp>
    </p:spTree>
    <p:extLst>
      <p:ext uri="{BB962C8B-B14F-4D97-AF65-F5344CB8AC3E}">
        <p14:creationId xmlns:p14="http://schemas.microsoft.com/office/powerpoint/2010/main" val="10301418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4DE428-55CC-415B-EA94-E8F9B4C08C2C}"/>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Espace réservé du texte 2">
            <a:extLst>
              <a:ext uri="{FF2B5EF4-FFF2-40B4-BE49-F238E27FC236}">
                <a16:creationId xmlns:a16="http://schemas.microsoft.com/office/drawing/2014/main" id="{33496D38-9F0D-F4F2-EAF1-726174BBC6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D78AB5D-3EEF-1597-B494-E4D8AF85AF0C}"/>
              </a:ext>
            </a:extLst>
          </p:cNvPr>
          <p:cNvSpPr>
            <a:spLocks noGrp="1"/>
          </p:cNvSpPr>
          <p:nvPr>
            <p:ph type="dt" sz="half" idx="10"/>
          </p:nvPr>
        </p:nvSpPr>
        <p:spPr/>
        <p:txBody>
          <a:bodyPr/>
          <a:lstStyle/>
          <a:p>
            <a:fld id="{52C237A0-1F47-40B2-A10E-85716BB788BE}" type="datetime1">
              <a:rPr lang="en-US" smtClean="0"/>
              <a:t>1/24/2026</a:t>
            </a:fld>
            <a:endParaRPr lang="en-US"/>
          </a:p>
        </p:txBody>
      </p:sp>
      <p:sp>
        <p:nvSpPr>
          <p:cNvPr id="5" name="Espace réservé du pied de page 4">
            <a:extLst>
              <a:ext uri="{FF2B5EF4-FFF2-40B4-BE49-F238E27FC236}">
                <a16:creationId xmlns:a16="http://schemas.microsoft.com/office/drawing/2014/main" id="{6FFC1A9A-265A-0909-7878-C2164A6BD8E5}"/>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63B63C96-3ED2-AFAC-B811-663BFCE45D60}"/>
              </a:ext>
            </a:extLst>
          </p:cNvPr>
          <p:cNvSpPr>
            <a:spLocks noGrp="1"/>
          </p:cNvSpPr>
          <p:nvPr>
            <p:ph type="sldNum" sz="quarter" idx="12"/>
          </p:nvPr>
        </p:nvSpPr>
        <p:spPr/>
        <p:txBody>
          <a:bodyPr/>
          <a:lstStyle/>
          <a:p>
            <a:fld id="{5D6484A1-CC52-44C7-BFE1-91FF3DDB54BD}" type="slidenum">
              <a:rPr lang="en-US" smtClean="0"/>
              <a:t>‹N°›</a:t>
            </a:fld>
            <a:endParaRPr lang="en-US"/>
          </a:p>
        </p:txBody>
      </p:sp>
    </p:spTree>
    <p:extLst>
      <p:ext uri="{BB962C8B-B14F-4D97-AF65-F5344CB8AC3E}">
        <p14:creationId xmlns:p14="http://schemas.microsoft.com/office/powerpoint/2010/main" val="19265102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0D2E26-C1DB-3D05-126A-0E7D07E2BC75}"/>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86FFD077-10CE-C76E-26C7-68B12EA07E5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a:extLst>
              <a:ext uri="{FF2B5EF4-FFF2-40B4-BE49-F238E27FC236}">
                <a16:creationId xmlns:a16="http://schemas.microsoft.com/office/drawing/2014/main" id="{DA74CBC7-DDED-229B-93A6-E6A95C72519C}"/>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4">
            <a:extLst>
              <a:ext uri="{FF2B5EF4-FFF2-40B4-BE49-F238E27FC236}">
                <a16:creationId xmlns:a16="http://schemas.microsoft.com/office/drawing/2014/main" id="{9D4E10FF-3EED-CA88-47F9-BD095C33A67F}"/>
              </a:ext>
            </a:extLst>
          </p:cNvPr>
          <p:cNvSpPr>
            <a:spLocks noGrp="1"/>
          </p:cNvSpPr>
          <p:nvPr>
            <p:ph type="dt" sz="half" idx="10"/>
          </p:nvPr>
        </p:nvSpPr>
        <p:spPr/>
        <p:txBody>
          <a:bodyPr/>
          <a:lstStyle/>
          <a:p>
            <a:fld id="{7D619F1E-253C-4C01-BC11-95DF5EE7AC33}" type="datetime1">
              <a:rPr lang="en-US" smtClean="0"/>
              <a:t>1/24/2026</a:t>
            </a:fld>
            <a:endParaRPr lang="en-US"/>
          </a:p>
        </p:txBody>
      </p:sp>
      <p:sp>
        <p:nvSpPr>
          <p:cNvPr id="6" name="Espace réservé du pied de page 5">
            <a:extLst>
              <a:ext uri="{FF2B5EF4-FFF2-40B4-BE49-F238E27FC236}">
                <a16:creationId xmlns:a16="http://schemas.microsoft.com/office/drawing/2014/main" id="{65A429C5-1C15-DBE2-7D4E-0CC3C5029CE6}"/>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4C6B51C6-5C33-7D10-DE28-592399A79DC7}"/>
              </a:ext>
            </a:extLst>
          </p:cNvPr>
          <p:cNvSpPr>
            <a:spLocks noGrp="1"/>
          </p:cNvSpPr>
          <p:nvPr>
            <p:ph type="sldNum" sz="quarter" idx="12"/>
          </p:nvPr>
        </p:nvSpPr>
        <p:spPr/>
        <p:txBody>
          <a:bodyPr/>
          <a:lstStyle/>
          <a:p>
            <a:fld id="{5D6484A1-CC52-44C7-BFE1-91FF3DDB54BD}" type="slidenum">
              <a:rPr lang="en-US" smtClean="0"/>
              <a:t>‹N°›</a:t>
            </a:fld>
            <a:endParaRPr lang="en-US"/>
          </a:p>
        </p:txBody>
      </p:sp>
    </p:spTree>
    <p:extLst>
      <p:ext uri="{BB962C8B-B14F-4D97-AF65-F5344CB8AC3E}">
        <p14:creationId xmlns:p14="http://schemas.microsoft.com/office/powerpoint/2010/main" val="5034641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2E2B40-858D-CB98-E7B5-31DF01099362}"/>
              </a:ext>
            </a:extLst>
          </p:cNvPr>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14889936-D415-2A3E-EA9F-64A51B04B8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446FB1A-3F8A-BE8D-A918-485DBE7940E4}"/>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a:extLst>
              <a:ext uri="{FF2B5EF4-FFF2-40B4-BE49-F238E27FC236}">
                <a16:creationId xmlns:a16="http://schemas.microsoft.com/office/drawing/2014/main" id="{5F5C42D3-7167-ADAE-9870-7991586C67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C673BC0-8E7D-C613-3C03-725345180416}"/>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6">
            <a:extLst>
              <a:ext uri="{FF2B5EF4-FFF2-40B4-BE49-F238E27FC236}">
                <a16:creationId xmlns:a16="http://schemas.microsoft.com/office/drawing/2014/main" id="{4D58134C-0FCC-EDED-FC42-DB2D923FD22B}"/>
              </a:ext>
            </a:extLst>
          </p:cNvPr>
          <p:cNvSpPr>
            <a:spLocks noGrp="1"/>
          </p:cNvSpPr>
          <p:nvPr>
            <p:ph type="dt" sz="half" idx="10"/>
          </p:nvPr>
        </p:nvSpPr>
        <p:spPr/>
        <p:txBody>
          <a:bodyPr/>
          <a:lstStyle/>
          <a:p>
            <a:fld id="{B791F32A-BDF7-432B-9A78-259EA1A3297A}" type="datetime1">
              <a:rPr lang="en-US" smtClean="0"/>
              <a:t>1/24/2026</a:t>
            </a:fld>
            <a:endParaRPr lang="en-US"/>
          </a:p>
        </p:txBody>
      </p:sp>
      <p:sp>
        <p:nvSpPr>
          <p:cNvPr id="8" name="Espace réservé du pied de page 7">
            <a:extLst>
              <a:ext uri="{FF2B5EF4-FFF2-40B4-BE49-F238E27FC236}">
                <a16:creationId xmlns:a16="http://schemas.microsoft.com/office/drawing/2014/main" id="{BEAD89C7-B8A0-13EB-667B-13C181520B59}"/>
              </a:ext>
            </a:extLst>
          </p:cNvPr>
          <p:cNvSpPr>
            <a:spLocks noGrp="1"/>
          </p:cNvSpPr>
          <p:nvPr>
            <p:ph type="ftr" sz="quarter" idx="11"/>
          </p:nvPr>
        </p:nvSpPr>
        <p:spPr/>
        <p:txBody>
          <a:bodyPr/>
          <a:lstStyle/>
          <a:p>
            <a:endParaRPr lang="en-US"/>
          </a:p>
        </p:txBody>
      </p:sp>
      <p:sp>
        <p:nvSpPr>
          <p:cNvPr id="9" name="Espace réservé du numéro de diapositive 8">
            <a:extLst>
              <a:ext uri="{FF2B5EF4-FFF2-40B4-BE49-F238E27FC236}">
                <a16:creationId xmlns:a16="http://schemas.microsoft.com/office/drawing/2014/main" id="{ED189887-A367-95FF-0F04-4C129915B022}"/>
              </a:ext>
            </a:extLst>
          </p:cNvPr>
          <p:cNvSpPr>
            <a:spLocks noGrp="1"/>
          </p:cNvSpPr>
          <p:nvPr>
            <p:ph type="sldNum" sz="quarter" idx="12"/>
          </p:nvPr>
        </p:nvSpPr>
        <p:spPr/>
        <p:txBody>
          <a:bodyPr/>
          <a:lstStyle/>
          <a:p>
            <a:fld id="{5D6484A1-CC52-44C7-BFE1-91FF3DDB54BD}" type="slidenum">
              <a:rPr lang="en-US" smtClean="0"/>
              <a:t>‹N°›</a:t>
            </a:fld>
            <a:endParaRPr lang="en-US"/>
          </a:p>
        </p:txBody>
      </p:sp>
    </p:spTree>
    <p:extLst>
      <p:ext uri="{BB962C8B-B14F-4D97-AF65-F5344CB8AC3E}">
        <p14:creationId xmlns:p14="http://schemas.microsoft.com/office/powerpoint/2010/main" val="22099552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FF4AFF6-4465-02BD-603D-4A03255AD49D}"/>
              </a:ext>
            </a:extLst>
          </p:cNvPr>
          <p:cNvSpPr>
            <a:spLocks noGrp="1"/>
          </p:cNvSpPr>
          <p:nvPr>
            <p:ph type="title"/>
          </p:nvPr>
        </p:nvSpPr>
        <p:spPr/>
        <p:txBody>
          <a:bodyPr/>
          <a:lstStyle/>
          <a:p>
            <a:r>
              <a:rPr lang="fr-FR"/>
              <a:t>Modifiez le style du titre</a:t>
            </a:r>
            <a:endParaRPr lang="en-US"/>
          </a:p>
        </p:txBody>
      </p:sp>
      <p:sp>
        <p:nvSpPr>
          <p:cNvPr id="3" name="Espace réservé de la date 2">
            <a:extLst>
              <a:ext uri="{FF2B5EF4-FFF2-40B4-BE49-F238E27FC236}">
                <a16:creationId xmlns:a16="http://schemas.microsoft.com/office/drawing/2014/main" id="{E7B12C69-98C1-C284-D4E0-F616915DE88B}"/>
              </a:ext>
            </a:extLst>
          </p:cNvPr>
          <p:cNvSpPr>
            <a:spLocks noGrp="1"/>
          </p:cNvSpPr>
          <p:nvPr>
            <p:ph type="dt" sz="half" idx="10"/>
          </p:nvPr>
        </p:nvSpPr>
        <p:spPr/>
        <p:txBody>
          <a:bodyPr/>
          <a:lstStyle/>
          <a:p>
            <a:fld id="{DAF04A79-12B6-4F88-A8E8-7A4484DBA1AF}" type="datetime1">
              <a:rPr lang="en-US" smtClean="0"/>
              <a:t>1/24/2026</a:t>
            </a:fld>
            <a:endParaRPr lang="en-US"/>
          </a:p>
        </p:txBody>
      </p:sp>
      <p:sp>
        <p:nvSpPr>
          <p:cNvPr id="4" name="Espace réservé du pied de page 3">
            <a:extLst>
              <a:ext uri="{FF2B5EF4-FFF2-40B4-BE49-F238E27FC236}">
                <a16:creationId xmlns:a16="http://schemas.microsoft.com/office/drawing/2014/main" id="{52FE619A-A179-C340-4F9A-0B402089CD67}"/>
              </a:ext>
            </a:extLst>
          </p:cNvPr>
          <p:cNvSpPr>
            <a:spLocks noGrp="1"/>
          </p:cNvSpPr>
          <p:nvPr>
            <p:ph type="ftr" sz="quarter" idx="11"/>
          </p:nvPr>
        </p:nvSpPr>
        <p:spPr/>
        <p:txBody>
          <a:bodyPr/>
          <a:lstStyle/>
          <a:p>
            <a:endParaRPr lang="en-US"/>
          </a:p>
        </p:txBody>
      </p:sp>
      <p:sp>
        <p:nvSpPr>
          <p:cNvPr id="5" name="Espace réservé du numéro de diapositive 4">
            <a:extLst>
              <a:ext uri="{FF2B5EF4-FFF2-40B4-BE49-F238E27FC236}">
                <a16:creationId xmlns:a16="http://schemas.microsoft.com/office/drawing/2014/main" id="{213F3B43-B630-E777-49BF-E97A17A21B5A}"/>
              </a:ext>
            </a:extLst>
          </p:cNvPr>
          <p:cNvSpPr>
            <a:spLocks noGrp="1"/>
          </p:cNvSpPr>
          <p:nvPr>
            <p:ph type="sldNum" sz="quarter" idx="12"/>
          </p:nvPr>
        </p:nvSpPr>
        <p:spPr/>
        <p:txBody>
          <a:bodyPr/>
          <a:lstStyle/>
          <a:p>
            <a:fld id="{5D6484A1-CC52-44C7-BFE1-91FF3DDB54BD}" type="slidenum">
              <a:rPr lang="en-US" smtClean="0"/>
              <a:t>‹N°›</a:t>
            </a:fld>
            <a:endParaRPr lang="en-US"/>
          </a:p>
        </p:txBody>
      </p:sp>
    </p:spTree>
    <p:extLst>
      <p:ext uri="{BB962C8B-B14F-4D97-AF65-F5344CB8AC3E}">
        <p14:creationId xmlns:p14="http://schemas.microsoft.com/office/powerpoint/2010/main" val="42916004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3C72F05-4545-A0FF-9790-A40856D98F0C}"/>
              </a:ext>
            </a:extLst>
          </p:cNvPr>
          <p:cNvSpPr>
            <a:spLocks noGrp="1"/>
          </p:cNvSpPr>
          <p:nvPr>
            <p:ph type="dt" sz="half" idx="10"/>
          </p:nvPr>
        </p:nvSpPr>
        <p:spPr/>
        <p:txBody>
          <a:bodyPr/>
          <a:lstStyle/>
          <a:p>
            <a:fld id="{9B366847-757F-4227-9E07-5E0D11964695}" type="datetime1">
              <a:rPr lang="en-US" smtClean="0"/>
              <a:t>1/24/2026</a:t>
            </a:fld>
            <a:endParaRPr lang="en-US"/>
          </a:p>
        </p:txBody>
      </p:sp>
      <p:sp>
        <p:nvSpPr>
          <p:cNvPr id="3" name="Espace réservé du pied de page 2">
            <a:extLst>
              <a:ext uri="{FF2B5EF4-FFF2-40B4-BE49-F238E27FC236}">
                <a16:creationId xmlns:a16="http://schemas.microsoft.com/office/drawing/2014/main" id="{E43442E5-C3B7-3E71-202F-B73A63C2C70C}"/>
              </a:ext>
            </a:extLst>
          </p:cNvPr>
          <p:cNvSpPr>
            <a:spLocks noGrp="1"/>
          </p:cNvSpPr>
          <p:nvPr>
            <p:ph type="ftr" sz="quarter" idx="11"/>
          </p:nvPr>
        </p:nvSpPr>
        <p:spPr/>
        <p:txBody>
          <a:bodyPr/>
          <a:lstStyle/>
          <a:p>
            <a:endParaRPr lang="en-US"/>
          </a:p>
        </p:txBody>
      </p:sp>
      <p:sp>
        <p:nvSpPr>
          <p:cNvPr id="4" name="Espace réservé du numéro de diapositive 3">
            <a:extLst>
              <a:ext uri="{FF2B5EF4-FFF2-40B4-BE49-F238E27FC236}">
                <a16:creationId xmlns:a16="http://schemas.microsoft.com/office/drawing/2014/main" id="{7297D1AB-C478-212B-5314-502CF578F662}"/>
              </a:ext>
            </a:extLst>
          </p:cNvPr>
          <p:cNvSpPr>
            <a:spLocks noGrp="1"/>
          </p:cNvSpPr>
          <p:nvPr>
            <p:ph type="sldNum" sz="quarter" idx="12"/>
          </p:nvPr>
        </p:nvSpPr>
        <p:spPr/>
        <p:txBody>
          <a:bodyPr/>
          <a:lstStyle/>
          <a:p>
            <a:fld id="{5D6484A1-CC52-44C7-BFE1-91FF3DDB54BD}" type="slidenum">
              <a:rPr lang="en-US" smtClean="0"/>
              <a:t>‹N°›</a:t>
            </a:fld>
            <a:endParaRPr lang="en-US"/>
          </a:p>
        </p:txBody>
      </p:sp>
    </p:spTree>
    <p:extLst>
      <p:ext uri="{BB962C8B-B14F-4D97-AF65-F5344CB8AC3E}">
        <p14:creationId xmlns:p14="http://schemas.microsoft.com/office/powerpoint/2010/main" val="17589173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14490C-13FA-1FA3-EF75-4C0736766A9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du contenu 2">
            <a:extLst>
              <a:ext uri="{FF2B5EF4-FFF2-40B4-BE49-F238E27FC236}">
                <a16:creationId xmlns:a16="http://schemas.microsoft.com/office/drawing/2014/main" id="{106F7D56-2BDF-FD9A-C959-3554F962CE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a:extLst>
              <a:ext uri="{FF2B5EF4-FFF2-40B4-BE49-F238E27FC236}">
                <a16:creationId xmlns:a16="http://schemas.microsoft.com/office/drawing/2014/main" id="{64897CB6-DC47-771E-A7B1-A6C991A87F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EE0A3D5-26F0-68EF-02B0-A45687B96339}"/>
              </a:ext>
            </a:extLst>
          </p:cNvPr>
          <p:cNvSpPr>
            <a:spLocks noGrp="1"/>
          </p:cNvSpPr>
          <p:nvPr>
            <p:ph type="dt" sz="half" idx="10"/>
          </p:nvPr>
        </p:nvSpPr>
        <p:spPr/>
        <p:txBody>
          <a:bodyPr/>
          <a:lstStyle/>
          <a:p>
            <a:fld id="{52FF2D94-374C-49C2-BBF6-291260431E8E}" type="datetime1">
              <a:rPr lang="en-US" smtClean="0"/>
              <a:t>1/24/2026</a:t>
            </a:fld>
            <a:endParaRPr lang="en-US"/>
          </a:p>
        </p:txBody>
      </p:sp>
      <p:sp>
        <p:nvSpPr>
          <p:cNvPr id="6" name="Espace réservé du pied de page 5">
            <a:extLst>
              <a:ext uri="{FF2B5EF4-FFF2-40B4-BE49-F238E27FC236}">
                <a16:creationId xmlns:a16="http://schemas.microsoft.com/office/drawing/2014/main" id="{A67315CD-A8A2-C332-512A-56B61F003E63}"/>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D985E6F6-2128-7DD1-11D7-F2A72C4093EF}"/>
              </a:ext>
            </a:extLst>
          </p:cNvPr>
          <p:cNvSpPr>
            <a:spLocks noGrp="1"/>
          </p:cNvSpPr>
          <p:nvPr>
            <p:ph type="sldNum" sz="quarter" idx="12"/>
          </p:nvPr>
        </p:nvSpPr>
        <p:spPr/>
        <p:txBody>
          <a:bodyPr/>
          <a:lstStyle/>
          <a:p>
            <a:fld id="{5D6484A1-CC52-44C7-BFE1-91FF3DDB54BD}" type="slidenum">
              <a:rPr lang="en-US" smtClean="0"/>
              <a:t>‹N°›</a:t>
            </a:fld>
            <a:endParaRPr lang="en-US"/>
          </a:p>
        </p:txBody>
      </p:sp>
    </p:spTree>
    <p:extLst>
      <p:ext uri="{BB962C8B-B14F-4D97-AF65-F5344CB8AC3E}">
        <p14:creationId xmlns:p14="http://schemas.microsoft.com/office/powerpoint/2010/main" val="2128925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7E3673-D77C-37C0-2E05-0F0C3442668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pour une image  2">
            <a:extLst>
              <a:ext uri="{FF2B5EF4-FFF2-40B4-BE49-F238E27FC236}">
                <a16:creationId xmlns:a16="http://schemas.microsoft.com/office/drawing/2014/main" id="{25854018-D661-0484-3033-E731244AEB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ce réservé du texte 3">
            <a:extLst>
              <a:ext uri="{FF2B5EF4-FFF2-40B4-BE49-F238E27FC236}">
                <a16:creationId xmlns:a16="http://schemas.microsoft.com/office/drawing/2014/main" id="{0096C043-C867-C468-100C-36A5967555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4A2A259-E9A6-E440-2735-87BF6D6CE6FF}"/>
              </a:ext>
            </a:extLst>
          </p:cNvPr>
          <p:cNvSpPr>
            <a:spLocks noGrp="1"/>
          </p:cNvSpPr>
          <p:nvPr>
            <p:ph type="dt" sz="half" idx="10"/>
          </p:nvPr>
        </p:nvSpPr>
        <p:spPr/>
        <p:txBody>
          <a:bodyPr/>
          <a:lstStyle/>
          <a:p>
            <a:fld id="{B92963D5-91BC-456E-84DF-B7C688CA510E}" type="datetime1">
              <a:rPr lang="en-US" smtClean="0"/>
              <a:t>1/24/2026</a:t>
            </a:fld>
            <a:endParaRPr lang="en-US"/>
          </a:p>
        </p:txBody>
      </p:sp>
      <p:sp>
        <p:nvSpPr>
          <p:cNvPr id="6" name="Espace réservé du pied de page 5">
            <a:extLst>
              <a:ext uri="{FF2B5EF4-FFF2-40B4-BE49-F238E27FC236}">
                <a16:creationId xmlns:a16="http://schemas.microsoft.com/office/drawing/2014/main" id="{66974904-7309-133B-E285-986E94011C62}"/>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D72D6DA5-986D-41E7-BE97-EE1E4930D2E3}"/>
              </a:ext>
            </a:extLst>
          </p:cNvPr>
          <p:cNvSpPr>
            <a:spLocks noGrp="1"/>
          </p:cNvSpPr>
          <p:nvPr>
            <p:ph type="sldNum" sz="quarter" idx="12"/>
          </p:nvPr>
        </p:nvSpPr>
        <p:spPr/>
        <p:txBody>
          <a:bodyPr/>
          <a:lstStyle/>
          <a:p>
            <a:fld id="{5D6484A1-CC52-44C7-BFE1-91FF3DDB54BD}" type="slidenum">
              <a:rPr lang="en-US" smtClean="0"/>
              <a:t>‹N°›</a:t>
            </a:fld>
            <a:endParaRPr lang="en-US"/>
          </a:p>
        </p:txBody>
      </p:sp>
    </p:spTree>
    <p:extLst>
      <p:ext uri="{BB962C8B-B14F-4D97-AF65-F5344CB8AC3E}">
        <p14:creationId xmlns:p14="http://schemas.microsoft.com/office/powerpoint/2010/main" val="37399715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05038C-58A5-1892-98FA-F7DE05AACF7F}"/>
              </a:ext>
            </a:extLst>
          </p:cNvPr>
          <p:cNvSpPr>
            <a:spLocks noGrp="1"/>
          </p:cNvSpPr>
          <p:nvPr>
            <p:ph type="title"/>
          </p:nvPr>
        </p:nvSpPr>
        <p:spPr/>
        <p:txBody>
          <a:bodyPr/>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A123AA47-8295-1341-5E7F-D16A51A0586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919C6969-243A-D488-1E1C-4F81910B80AB}"/>
              </a:ext>
            </a:extLst>
          </p:cNvPr>
          <p:cNvSpPr>
            <a:spLocks noGrp="1"/>
          </p:cNvSpPr>
          <p:nvPr>
            <p:ph type="dt" sz="half" idx="10"/>
          </p:nvPr>
        </p:nvSpPr>
        <p:spPr/>
        <p:txBody>
          <a:bodyPr/>
          <a:lstStyle/>
          <a:p>
            <a:fld id="{5CD8AA76-C9C8-4FD7-A8AA-7034B32534A1}" type="datetime1">
              <a:rPr lang="en-US" smtClean="0"/>
              <a:t>1/24/2026</a:t>
            </a:fld>
            <a:endParaRPr lang="en-US"/>
          </a:p>
        </p:txBody>
      </p:sp>
      <p:sp>
        <p:nvSpPr>
          <p:cNvPr id="5" name="Espace réservé du pied de page 4">
            <a:extLst>
              <a:ext uri="{FF2B5EF4-FFF2-40B4-BE49-F238E27FC236}">
                <a16:creationId xmlns:a16="http://schemas.microsoft.com/office/drawing/2014/main" id="{7CF7F392-3EC9-5518-FBC7-6F7FB9A14606}"/>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7560951E-4B2D-1483-DFB6-AFE0FAA933C9}"/>
              </a:ext>
            </a:extLst>
          </p:cNvPr>
          <p:cNvSpPr>
            <a:spLocks noGrp="1"/>
          </p:cNvSpPr>
          <p:nvPr>
            <p:ph type="sldNum" sz="quarter" idx="12"/>
          </p:nvPr>
        </p:nvSpPr>
        <p:spPr/>
        <p:txBody>
          <a:bodyPr/>
          <a:lstStyle/>
          <a:p>
            <a:fld id="{5D6484A1-CC52-44C7-BFE1-91FF3DDB54BD}" type="slidenum">
              <a:rPr lang="en-US" smtClean="0"/>
              <a:t>‹N°›</a:t>
            </a:fld>
            <a:endParaRPr lang="en-US"/>
          </a:p>
        </p:txBody>
      </p:sp>
    </p:spTree>
    <p:extLst>
      <p:ext uri="{BB962C8B-B14F-4D97-AF65-F5344CB8AC3E}">
        <p14:creationId xmlns:p14="http://schemas.microsoft.com/office/powerpoint/2010/main" val="21820345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16CA42E4-BFF6-E20E-3387-F03FE23C241E}"/>
              </a:ext>
            </a:extLst>
          </p:cNvPr>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CCA6236D-D8C7-3ECF-72A2-D44C513B50F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2C2798CE-FE45-6AC4-017B-4D4950448F81}"/>
              </a:ext>
            </a:extLst>
          </p:cNvPr>
          <p:cNvSpPr>
            <a:spLocks noGrp="1"/>
          </p:cNvSpPr>
          <p:nvPr>
            <p:ph type="dt" sz="half" idx="10"/>
          </p:nvPr>
        </p:nvSpPr>
        <p:spPr/>
        <p:txBody>
          <a:bodyPr/>
          <a:lstStyle/>
          <a:p>
            <a:fld id="{46973EDF-05B8-404D-B360-9F186DD723A6}" type="datetime1">
              <a:rPr lang="en-US" smtClean="0"/>
              <a:t>1/24/2026</a:t>
            </a:fld>
            <a:endParaRPr lang="en-US"/>
          </a:p>
        </p:txBody>
      </p:sp>
      <p:sp>
        <p:nvSpPr>
          <p:cNvPr id="5" name="Espace réservé du pied de page 4">
            <a:extLst>
              <a:ext uri="{FF2B5EF4-FFF2-40B4-BE49-F238E27FC236}">
                <a16:creationId xmlns:a16="http://schemas.microsoft.com/office/drawing/2014/main" id="{A83FD81C-6A80-2D20-A789-98CE5B671757}"/>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7707AB14-7A42-1FC2-2ABA-329E8AB1D19A}"/>
              </a:ext>
            </a:extLst>
          </p:cNvPr>
          <p:cNvSpPr>
            <a:spLocks noGrp="1"/>
          </p:cNvSpPr>
          <p:nvPr>
            <p:ph type="sldNum" sz="quarter" idx="12"/>
          </p:nvPr>
        </p:nvSpPr>
        <p:spPr/>
        <p:txBody>
          <a:bodyPr/>
          <a:lstStyle/>
          <a:p>
            <a:fld id="{5D6484A1-CC52-44C7-BFE1-91FF3DDB54BD}" type="slidenum">
              <a:rPr lang="en-US" smtClean="0"/>
              <a:t>‹N°›</a:t>
            </a:fld>
            <a:endParaRPr lang="en-US"/>
          </a:p>
        </p:txBody>
      </p:sp>
    </p:spTree>
    <p:extLst>
      <p:ext uri="{BB962C8B-B14F-4D97-AF65-F5344CB8AC3E}">
        <p14:creationId xmlns:p14="http://schemas.microsoft.com/office/powerpoint/2010/main" val="2066255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3590698C-28B6-4D62-9F1A-F8BC414A0EC1}" type="datetime1">
              <a:rPr lang="en-US" smtClean="0"/>
              <a:t>1/24/2026</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5D6484A1-CC52-44C7-BFE1-91FF3DDB54BD}" type="slidenum">
              <a:rPr lang="en-US" smtClean="0"/>
              <a:t>‹N°›</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50018430"/>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Lst>
  <p:hf hdr="0" ft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3F99CEC-AE19-5374-7664-092CCAC5EE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BBACF232-1D4E-1439-1909-AD3C0EDBA7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5B7F20C8-20C6-68A9-D2B6-338B25751E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E323E8-184E-4EEC-B307-7315679CA392}" type="datetime1">
              <a:rPr lang="en-US" smtClean="0"/>
              <a:t>1/24/2026</a:t>
            </a:fld>
            <a:endParaRPr lang="en-US"/>
          </a:p>
        </p:txBody>
      </p:sp>
      <p:sp>
        <p:nvSpPr>
          <p:cNvPr id="5" name="Espace réservé du pied de page 4">
            <a:extLst>
              <a:ext uri="{FF2B5EF4-FFF2-40B4-BE49-F238E27FC236}">
                <a16:creationId xmlns:a16="http://schemas.microsoft.com/office/drawing/2014/main" id="{03C6AA0F-4758-E24B-EAFF-9BB1D20A9D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ce réservé du numéro de diapositive 5">
            <a:extLst>
              <a:ext uri="{FF2B5EF4-FFF2-40B4-BE49-F238E27FC236}">
                <a16:creationId xmlns:a16="http://schemas.microsoft.com/office/drawing/2014/main" id="{9C7604A2-03BD-0C69-C8C6-024CE6E65E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6484A1-CC52-44C7-BFE1-91FF3DDB54BD}" type="slidenum">
              <a:rPr lang="en-US" smtClean="0"/>
              <a:t>‹N°›</a:t>
            </a:fld>
            <a:endParaRPr lang="en-US"/>
          </a:p>
        </p:txBody>
      </p:sp>
    </p:spTree>
    <p:extLst>
      <p:ext uri="{BB962C8B-B14F-4D97-AF65-F5344CB8AC3E}">
        <p14:creationId xmlns:p14="http://schemas.microsoft.com/office/powerpoint/2010/main" val="3476534727"/>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AB9A10-38E0-5E67-8785-966C0ACA6EC9}"/>
              </a:ext>
            </a:extLst>
          </p:cNvPr>
          <p:cNvSpPr>
            <a:spLocks noGrp="1"/>
          </p:cNvSpPr>
          <p:nvPr>
            <p:ph type="ctrTitle"/>
          </p:nvPr>
        </p:nvSpPr>
        <p:spPr>
          <a:xfrm>
            <a:off x="1379095" y="2578307"/>
            <a:ext cx="9433810" cy="984151"/>
          </a:xfrm>
        </p:spPr>
        <p:txBody>
          <a:bodyPr>
            <a:noAutofit/>
          </a:bodyPr>
          <a:lstStyle/>
          <a:p>
            <a:r>
              <a:rPr lang="fr-FR" sz="4400" b="1" noProof="0" dirty="0">
                <a:latin typeface="Segoe UI" panose="020B0502040204020203" pitchFamily="34" charset="0"/>
                <a:cs typeface="Segoe UI" panose="020B0502040204020203" pitchFamily="34" charset="0"/>
              </a:rPr>
              <a:t>Pilotage du crédit immobilier </a:t>
            </a:r>
            <a:endParaRPr lang="fr-FR" sz="5400" b="1" noProof="0" dirty="0">
              <a:latin typeface="Segoe UI" panose="020B0502040204020203" pitchFamily="34" charset="0"/>
              <a:cs typeface="Segoe UI" panose="020B0502040204020203" pitchFamily="34" charset="0"/>
            </a:endParaRPr>
          </a:p>
        </p:txBody>
      </p:sp>
      <p:sp>
        <p:nvSpPr>
          <p:cNvPr id="3" name="Sous-titre 2">
            <a:extLst>
              <a:ext uri="{FF2B5EF4-FFF2-40B4-BE49-F238E27FC236}">
                <a16:creationId xmlns:a16="http://schemas.microsoft.com/office/drawing/2014/main" id="{E0E5ADB0-C0A7-9164-A975-54E6EAD9F086}"/>
              </a:ext>
            </a:extLst>
          </p:cNvPr>
          <p:cNvSpPr>
            <a:spLocks noGrp="1"/>
          </p:cNvSpPr>
          <p:nvPr>
            <p:ph type="subTitle" idx="1"/>
          </p:nvPr>
        </p:nvSpPr>
        <p:spPr>
          <a:xfrm>
            <a:off x="1524000" y="3696500"/>
            <a:ext cx="9144000" cy="580214"/>
          </a:xfrm>
        </p:spPr>
        <p:txBody>
          <a:bodyPr>
            <a:normAutofit/>
          </a:bodyPr>
          <a:lstStyle/>
          <a:p>
            <a:r>
              <a:rPr lang="fr-FR" noProof="0" dirty="0"/>
              <a:t>Optimisation du délai d’accord et amélioration de la qualité des dossiers</a:t>
            </a:r>
          </a:p>
          <a:p>
            <a:endParaRPr lang="fr-FR" noProof="0" dirty="0"/>
          </a:p>
        </p:txBody>
      </p:sp>
      <p:pic>
        <p:nvPicPr>
          <p:cNvPr id="5" name="Image 4">
            <a:extLst>
              <a:ext uri="{FF2B5EF4-FFF2-40B4-BE49-F238E27FC236}">
                <a16:creationId xmlns:a16="http://schemas.microsoft.com/office/drawing/2014/main" id="{BAE65901-86B1-F338-8DB2-7447ADBB61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75214" y="672122"/>
            <a:ext cx="1922964" cy="1772143"/>
          </a:xfrm>
          <a:prstGeom prst="rect">
            <a:avLst/>
          </a:prstGeom>
        </p:spPr>
      </p:pic>
      <p:sp>
        <p:nvSpPr>
          <p:cNvPr id="10" name="Sous-titre 2">
            <a:extLst>
              <a:ext uri="{FF2B5EF4-FFF2-40B4-BE49-F238E27FC236}">
                <a16:creationId xmlns:a16="http://schemas.microsoft.com/office/drawing/2014/main" id="{7C2FF809-2542-52E2-99FD-D9F4F923BEF4}"/>
              </a:ext>
            </a:extLst>
          </p:cNvPr>
          <p:cNvSpPr txBox="1">
            <a:spLocks/>
          </p:cNvSpPr>
          <p:nvPr/>
        </p:nvSpPr>
        <p:spPr>
          <a:xfrm>
            <a:off x="1524000" y="4666338"/>
            <a:ext cx="9144000" cy="71513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1800" noProof="0" dirty="0">
                <a:solidFill>
                  <a:srgbClr val="637052"/>
                </a:solidFill>
                <a:latin typeface="+mj-lt"/>
              </a:rPr>
              <a:t>REALISE PAR IDRISSA TRAORE</a:t>
            </a:r>
            <a:endParaRPr lang="fr-FR" sz="1600" noProof="0" dirty="0">
              <a:solidFill>
                <a:srgbClr val="637052"/>
              </a:solidFill>
              <a:latin typeface="+mj-lt"/>
            </a:endParaRPr>
          </a:p>
          <a:p>
            <a:endParaRPr lang="fr-FR" sz="1400" noProof="0" dirty="0">
              <a:solidFill>
                <a:srgbClr val="637052"/>
              </a:solidFill>
              <a:latin typeface="+mj-lt"/>
            </a:endParaRPr>
          </a:p>
          <a:p>
            <a:endParaRPr lang="fr-FR" noProof="0" dirty="0"/>
          </a:p>
        </p:txBody>
      </p:sp>
      <p:sp>
        <p:nvSpPr>
          <p:cNvPr id="4" name="Espace réservé du numéro de diapositive 3">
            <a:extLst>
              <a:ext uri="{FF2B5EF4-FFF2-40B4-BE49-F238E27FC236}">
                <a16:creationId xmlns:a16="http://schemas.microsoft.com/office/drawing/2014/main" id="{875719B1-3FBA-9266-C149-037CD04E556F}"/>
              </a:ext>
            </a:extLst>
          </p:cNvPr>
          <p:cNvSpPr>
            <a:spLocks noGrp="1"/>
          </p:cNvSpPr>
          <p:nvPr>
            <p:ph type="sldNum" sz="quarter" idx="12"/>
          </p:nvPr>
        </p:nvSpPr>
        <p:spPr/>
        <p:txBody>
          <a:bodyPr/>
          <a:lstStyle/>
          <a:p>
            <a:fld id="{5D6484A1-CC52-44C7-BFE1-91FF3DDB54BD}" type="slidenum">
              <a:rPr lang="en-US" smtClean="0"/>
              <a:t>1</a:t>
            </a:fld>
            <a:endParaRPr lang="en-US"/>
          </a:p>
        </p:txBody>
      </p:sp>
    </p:spTree>
    <p:extLst>
      <p:ext uri="{BB962C8B-B14F-4D97-AF65-F5344CB8AC3E}">
        <p14:creationId xmlns:p14="http://schemas.microsoft.com/office/powerpoint/2010/main" val="3417988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0FB1D8-3827-53FD-CAA1-3E5F4093C245}"/>
              </a:ext>
            </a:extLst>
          </p:cNvPr>
          <p:cNvSpPr>
            <a:spLocks noGrp="1"/>
          </p:cNvSpPr>
          <p:nvPr>
            <p:ph type="title"/>
          </p:nvPr>
        </p:nvSpPr>
        <p:spPr/>
        <p:txBody>
          <a:bodyPr/>
          <a:lstStyle/>
          <a:p>
            <a:r>
              <a:rPr lang="fr-FR" sz="4800" b="1" noProof="0" dirty="0"/>
              <a:t>PLAN</a:t>
            </a:r>
            <a:endParaRPr lang="fr-FR" b="1" noProof="0" dirty="0"/>
          </a:p>
        </p:txBody>
      </p:sp>
      <p:sp>
        <p:nvSpPr>
          <p:cNvPr id="3" name="Espace réservé du contenu 2">
            <a:extLst>
              <a:ext uri="{FF2B5EF4-FFF2-40B4-BE49-F238E27FC236}">
                <a16:creationId xmlns:a16="http://schemas.microsoft.com/office/drawing/2014/main" id="{9A95B635-0DB9-A4E5-2D8E-797AF68A5352}"/>
              </a:ext>
            </a:extLst>
          </p:cNvPr>
          <p:cNvSpPr>
            <a:spLocks noGrp="1"/>
          </p:cNvSpPr>
          <p:nvPr>
            <p:ph idx="1"/>
          </p:nvPr>
        </p:nvSpPr>
        <p:spPr>
          <a:xfrm>
            <a:off x="1371600" y="1761344"/>
            <a:ext cx="9601200" cy="3581400"/>
          </a:xfrm>
        </p:spPr>
        <p:txBody>
          <a:bodyPr>
            <a:normAutofit fontScale="92500" lnSpcReduction="20000"/>
          </a:bodyPr>
          <a:lstStyle/>
          <a:p>
            <a:pPr marL="0" indent="0">
              <a:buNone/>
            </a:pPr>
            <a:r>
              <a:rPr lang="fr-FR" sz="2800" b="1" noProof="0" dirty="0"/>
              <a:t>	</a:t>
            </a:r>
          </a:p>
          <a:p>
            <a:pPr marL="0" indent="0">
              <a:buNone/>
            </a:pPr>
            <a:r>
              <a:rPr lang="fr-FR" sz="2800" b="1" noProof="0" dirty="0"/>
              <a:t>	Contexte et problématique</a:t>
            </a:r>
          </a:p>
          <a:p>
            <a:pPr marL="0" indent="0">
              <a:buNone/>
            </a:pPr>
            <a:endParaRPr lang="fr-FR" sz="2800" b="1" noProof="0" dirty="0"/>
          </a:p>
          <a:p>
            <a:pPr marL="0" indent="0">
              <a:buNone/>
            </a:pPr>
            <a:r>
              <a:rPr lang="fr-FR" sz="2400" b="1" dirty="0"/>
              <a:t>	 </a:t>
            </a:r>
          </a:p>
          <a:p>
            <a:pPr marL="0" indent="0">
              <a:buNone/>
            </a:pPr>
            <a:r>
              <a:rPr lang="fr-FR" sz="2400" b="1" dirty="0"/>
              <a:t>	 </a:t>
            </a:r>
            <a:r>
              <a:rPr lang="fr-FR" sz="2800" b="1" dirty="0"/>
              <a:t>Constats et recommandations</a:t>
            </a:r>
            <a:endParaRPr lang="fr-FR" sz="2400" b="1" noProof="0" dirty="0"/>
          </a:p>
          <a:p>
            <a:pPr marL="0" indent="0">
              <a:buNone/>
            </a:pPr>
            <a:r>
              <a:rPr lang="fr-FR" b="1" noProof="0" dirty="0"/>
              <a:t>	</a:t>
            </a:r>
          </a:p>
          <a:p>
            <a:pPr marL="0" indent="0">
              <a:buNone/>
            </a:pPr>
            <a:r>
              <a:rPr lang="fr-FR" b="1" noProof="0" dirty="0"/>
              <a:t>	</a:t>
            </a:r>
          </a:p>
          <a:p>
            <a:pPr marL="0" indent="0">
              <a:buNone/>
            </a:pPr>
            <a:r>
              <a:rPr lang="fr-FR" b="1" noProof="0" dirty="0"/>
              <a:t>	</a:t>
            </a:r>
            <a:r>
              <a:rPr lang="fr-FR" sz="3000" b="1" noProof="0" dirty="0"/>
              <a:t> </a:t>
            </a:r>
            <a:r>
              <a:rPr lang="fr-FR" sz="2800" b="1" noProof="0" dirty="0"/>
              <a:t>Recommandations </a:t>
            </a:r>
            <a:endParaRPr lang="fr-FR" sz="2800" b="1" dirty="0"/>
          </a:p>
          <a:p>
            <a:pPr marL="0" indent="0">
              <a:buNone/>
            </a:pPr>
            <a:endParaRPr lang="fr-FR" b="1" noProof="0" dirty="0"/>
          </a:p>
        </p:txBody>
      </p:sp>
      <p:pic>
        <p:nvPicPr>
          <p:cNvPr id="13" name="Image 12">
            <a:extLst>
              <a:ext uri="{FF2B5EF4-FFF2-40B4-BE49-F238E27FC236}">
                <a16:creationId xmlns:a16="http://schemas.microsoft.com/office/drawing/2014/main" id="{ED85DFBA-95EB-7FA6-E357-9A99220F37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016" y="2054335"/>
            <a:ext cx="682030" cy="677310"/>
          </a:xfrm>
          <a:prstGeom prst="rect">
            <a:avLst/>
          </a:prstGeom>
        </p:spPr>
      </p:pic>
      <p:pic>
        <p:nvPicPr>
          <p:cNvPr id="15" name="Image 14">
            <a:extLst>
              <a:ext uri="{FF2B5EF4-FFF2-40B4-BE49-F238E27FC236}">
                <a16:creationId xmlns:a16="http://schemas.microsoft.com/office/drawing/2014/main" id="{CBE2D3D6-3369-5225-4BBB-6FB68AB04B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5644" y="4551752"/>
            <a:ext cx="795479" cy="677310"/>
          </a:xfrm>
          <a:prstGeom prst="rect">
            <a:avLst/>
          </a:prstGeom>
        </p:spPr>
      </p:pic>
      <p:pic>
        <p:nvPicPr>
          <p:cNvPr id="9" name="Image 8">
            <a:extLst>
              <a:ext uri="{FF2B5EF4-FFF2-40B4-BE49-F238E27FC236}">
                <a16:creationId xmlns:a16="http://schemas.microsoft.com/office/drawing/2014/main" id="{AD549834-BDDD-3F6D-E4BA-6E36D0836E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63623" y="3291590"/>
            <a:ext cx="728944" cy="700217"/>
          </a:xfrm>
          <a:prstGeom prst="rect">
            <a:avLst/>
          </a:prstGeom>
        </p:spPr>
      </p:pic>
      <p:sp>
        <p:nvSpPr>
          <p:cNvPr id="10" name="Espace réservé du numéro de diapositive 9">
            <a:extLst>
              <a:ext uri="{FF2B5EF4-FFF2-40B4-BE49-F238E27FC236}">
                <a16:creationId xmlns:a16="http://schemas.microsoft.com/office/drawing/2014/main" id="{7B17A146-85DE-489E-D7DE-467733601539}"/>
              </a:ext>
            </a:extLst>
          </p:cNvPr>
          <p:cNvSpPr>
            <a:spLocks noGrp="1"/>
          </p:cNvSpPr>
          <p:nvPr>
            <p:ph type="sldNum" sz="quarter" idx="12"/>
          </p:nvPr>
        </p:nvSpPr>
        <p:spPr/>
        <p:txBody>
          <a:bodyPr/>
          <a:lstStyle/>
          <a:p>
            <a:fld id="{5D6484A1-CC52-44C7-BFE1-91FF3DDB54BD}" type="slidenum">
              <a:rPr lang="en-US" smtClean="0"/>
              <a:t>2</a:t>
            </a:fld>
            <a:endParaRPr lang="en-US"/>
          </a:p>
        </p:txBody>
      </p:sp>
    </p:spTree>
    <p:extLst>
      <p:ext uri="{BB962C8B-B14F-4D97-AF65-F5344CB8AC3E}">
        <p14:creationId xmlns:p14="http://schemas.microsoft.com/office/powerpoint/2010/main" val="3649548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2EE0E6-066E-DC46-2FFE-183552A4BAEE}"/>
              </a:ext>
            </a:extLst>
          </p:cNvPr>
          <p:cNvSpPr>
            <a:spLocks noGrp="1"/>
          </p:cNvSpPr>
          <p:nvPr>
            <p:ph type="title"/>
          </p:nvPr>
        </p:nvSpPr>
        <p:spPr>
          <a:xfrm>
            <a:off x="1295400" y="366322"/>
            <a:ext cx="9601200" cy="1485900"/>
          </a:xfrm>
        </p:spPr>
        <p:txBody>
          <a:bodyPr/>
          <a:lstStyle/>
          <a:p>
            <a:r>
              <a:rPr lang="fr-FR" b="1" dirty="0"/>
              <a:t>Contexte et problématique</a:t>
            </a:r>
            <a:endParaRPr lang="en-US" dirty="0"/>
          </a:p>
        </p:txBody>
      </p:sp>
      <p:sp>
        <p:nvSpPr>
          <p:cNvPr id="3" name="Espace réservé du contenu 2">
            <a:extLst>
              <a:ext uri="{FF2B5EF4-FFF2-40B4-BE49-F238E27FC236}">
                <a16:creationId xmlns:a16="http://schemas.microsoft.com/office/drawing/2014/main" id="{3783F019-8E0C-A600-9D1F-0683262E5712}"/>
              </a:ext>
            </a:extLst>
          </p:cNvPr>
          <p:cNvSpPr>
            <a:spLocks noGrp="1"/>
          </p:cNvSpPr>
          <p:nvPr>
            <p:ph idx="1"/>
          </p:nvPr>
        </p:nvSpPr>
        <p:spPr>
          <a:xfrm>
            <a:off x="1383957" y="1280469"/>
            <a:ext cx="9601200" cy="5062928"/>
          </a:xfrm>
        </p:spPr>
        <p:txBody>
          <a:bodyPr>
            <a:normAutofit fontScale="25000" lnSpcReduction="20000"/>
          </a:bodyPr>
          <a:lstStyle/>
          <a:p>
            <a:pPr marL="0" indent="0" algn="just">
              <a:lnSpc>
                <a:spcPct val="120000"/>
              </a:lnSpc>
              <a:buNone/>
            </a:pPr>
            <a:r>
              <a:rPr lang="fr-MA" sz="6400" dirty="0">
                <a:latin typeface="Cambria" panose="02040503050406030204" pitchFamily="18" charset="0"/>
                <a:ea typeface="Cambria" panose="02040503050406030204" pitchFamily="18" charset="0"/>
                <a:cs typeface="Arial" panose="020B0604020202020204" pitchFamily="34" charset="0"/>
              </a:rPr>
              <a:t>La Banque Niono Finance traite un volume important de demandes de prêts immobiliers, dont une proportion présente des pièces manquantes ou des informations erronées. Le processus décisionnel repose principalement sur l’expérience des conseillers bancaires en agence ; le directeur d’agence conserve un pouvoir de validation ou d’infirmation ; la cellule centrale d’instruction, détentrice de la décision finale, est en situation de saturation.</a:t>
            </a:r>
          </a:p>
          <a:p>
            <a:pPr algn="just">
              <a:lnSpc>
                <a:spcPct val="120000"/>
              </a:lnSpc>
              <a:buFont typeface="Wingdings" panose="05000000000000000000" pitchFamily="2" charset="2"/>
              <a:buChar char="Ø"/>
            </a:pPr>
            <a:r>
              <a:rPr lang="fr-MA" sz="8000" b="1" dirty="0">
                <a:latin typeface="Franklin Gothic Book (En-têtes)"/>
                <a:ea typeface="Calibri" panose="020F0502020204030204" pitchFamily="34" charset="0"/>
                <a:cs typeface="Arial" panose="020B0604020202020204" pitchFamily="34" charset="0"/>
              </a:rPr>
              <a:t>Conséquences</a:t>
            </a:r>
          </a:p>
          <a:p>
            <a:pPr marL="0" indent="0" algn="just">
              <a:lnSpc>
                <a:spcPct val="120000"/>
              </a:lnSpc>
              <a:buNone/>
            </a:pPr>
            <a:r>
              <a:rPr lang="fr-MA" sz="6400" dirty="0">
                <a:latin typeface="Cambria" panose="02040503050406030204" pitchFamily="18" charset="0"/>
                <a:ea typeface="Cambria" panose="02040503050406030204" pitchFamily="18" charset="0"/>
                <a:cs typeface="Arial" panose="020B0604020202020204" pitchFamily="34" charset="0"/>
              </a:rPr>
              <a:t>Allongement substantiel des délais d’instruction, surcharge opérationnelle de la cellule centrale, exposition accrue aux erreurs et dégradation de la qualité des dossiers instruits, avec un impact négatif sur la satisfaction clientèle.</a:t>
            </a:r>
          </a:p>
          <a:p>
            <a:pPr algn="just">
              <a:lnSpc>
                <a:spcPct val="120000"/>
              </a:lnSpc>
              <a:buFont typeface="Wingdings" panose="05000000000000000000" pitchFamily="2" charset="2"/>
              <a:buChar char="Ø"/>
            </a:pPr>
            <a:r>
              <a:rPr lang="fr-MA" sz="8000" b="1" dirty="0">
                <a:latin typeface="Franklin Gothic Book (En-têtes)"/>
                <a:ea typeface="Cambria" panose="02040503050406030204" pitchFamily="18" charset="0"/>
                <a:cs typeface="Arial" panose="020B0604020202020204" pitchFamily="34" charset="0"/>
              </a:rPr>
              <a:t>Objectifs de la direction</a:t>
            </a:r>
          </a:p>
          <a:p>
            <a:pPr marL="0" indent="0" algn="just">
              <a:lnSpc>
                <a:spcPct val="120000"/>
              </a:lnSpc>
              <a:buNone/>
            </a:pPr>
            <a:r>
              <a:rPr lang="fr-MA" sz="6400" dirty="0">
                <a:latin typeface="Cambria" panose="02040503050406030204" pitchFamily="18" charset="0"/>
                <a:ea typeface="Cambria" panose="02040503050406030204" pitchFamily="18" charset="0"/>
                <a:cs typeface="Arial" panose="020B0604020202020204" pitchFamily="34" charset="0"/>
              </a:rPr>
              <a:t>Réduction des délais de prise de décision et amélioration mesurable de la qualité et de la complétude des dossiers validés.</a:t>
            </a:r>
          </a:p>
          <a:p>
            <a:pPr algn="just">
              <a:lnSpc>
                <a:spcPct val="120000"/>
              </a:lnSpc>
              <a:buFont typeface="Wingdings" panose="05000000000000000000" pitchFamily="2" charset="2"/>
              <a:buChar char="Ø"/>
            </a:pPr>
            <a:r>
              <a:rPr lang="fr-MA" sz="8000" b="1" dirty="0">
                <a:latin typeface="Franklin Gothic Book (En-têtes)"/>
              </a:rPr>
              <a:t>Mesure mise en œuvre</a:t>
            </a:r>
          </a:p>
          <a:p>
            <a:pPr marL="0" indent="0" algn="just">
              <a:lnSpc>
                <a:spcPct val="120000"/>
              </a:lnSpc>
              <a:buNone/>
            </a:pPr>
            <a:r>
              <a:rPr lang="fr-MA" sz="6400" dirty="0">
                <a:latin typeface="Cambria" panose="02040503050406030204" pitchFamily="18" charset="0"/>
                <a:ea typeface="Cambria" panose="02040503050406030204" pitchFamily="18" charset="0"/>
              </a:rPr>
              <a:t>Déploiement d’un tableau de bord Power BI permettant l’analyse des flux de demandes et l’attribution d’un score d’aide à la décision, visant à apprécier l’éligibilité des dossiers et à orienter l’acceptation ou le refus des crédits immobiliers.</a:t>
            </a:r>
          </a:p>
          <a:p>
            <a:pPr marL="0" indent="0">
              <a:lnSpc>
                <a:spcPct val="120000"/>
              </a:lnSpc>
              <a:buNone/>
            </a:pPr>
            <a:endParaRPr lang="fr-MA" sz="7200" dirty="0">
              <a:latin typeface="Arial" panose="020B0604020202020204" pitchFamily="34" charset="0"/>
              <a:ea typeface="Calibri" panose="020F0502020204030204" pitchFamily="34" charset="0"/>
              <a:cs typeface="Arial" panose="020B0604020202020204" pitchFamily="34" charset="0"/>
            </a:endParaRPr>
          </a:p>
          <a:p>
            <a:pPr marL="0" indent="0">
              <a:lnSpc>
                <a:spcPct val="120000"/>
              </a:lnSpc>
              <a:buNone/>
            </a:pPr>
            <a:endParaRPr lang="fr-MA" dirty="0"/>
          </a:p>
          <a:p>
            <a:pPr marL="0" indent="0">
              <a:lnSpc>
                <a:spcPct val="120000"/>
              </a:lnSpc>
              <a:buNone/>
            </a:pPr>
            <a:endParaRPr lang="fr-MA" dirty="0"/>
          </a:p>
          <a:p>
            <a:pPr marL="0" indent="0">
              <a:lnSpc>
                <a:spcPct val="120000"/>
              </a:lnSpc>
              <a:buNone/>
            </a:pPr>
            <a:endParaRPr lang="en-US" dirty="0"/>
          </a:p>
        </p:txBody>
      </p:sp>
      <p:sp>
        <p:nvSpPr>
          <p:cNvPr id="4" name="Espace réservé du numéro de diapositive 3">
            <a:extLst>
              <a:ext uri="{FF2B5EF4-FFF2-40B4-BE49-F238E27FC236}">
                <a16:creationId xmlns:a16="http://schemas.microsoft.com/office/drawing/2014/main" id="{1A496F82-8EDD-A090-37B4-2C26E4813E57}"/>
              </a:ext>
            </a:extLst>
          </p:cNvPr>
          <p:cNvSpPr>
            <a:spLocks noGrp="1"/>
          </p:cNvSpPr>
          <p:nvPr>
            <p:ph type="sldNum" sz="quarter" idx="12"/>
          </p:nvPr>
        </p:nvSpPr>
        <p:spPr/>
        <p:txBody>
          <a:bodyPr/>
          <a:lstStyle/>
          <a:p>
            <a:fld id="{5D6484A1-CC52-44C7-BFE1-91FF3DDB54BD}" type="slidenum">
              <a:rPr lang="en-US" smtClean="0"/>
              <a:t>3</a:t>
            </a:fld>
            <a:endParaRPr lang="en-US" dirty="0"/>
          </a:p>
        </p:txBody>
      </p:sp>
    </p:spTree>
    <p:extLst>
      <p:ext uri="{BB962C8B-B14F-4D97-AF65-F5344CB8AC3E}">
        <p14:creationId xmlns:p14="http://schemas.microsoft.com/office/powerpoint/2010/main" val="2606322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C18C01-8CE0-90DC-EF48-E2A4DA527B41}"/>
              </a:ext>
            </a:extLst>
          </p:cNvPr>
          <p:cNvSpPr>
            <a:spLocks noGrp="1"/>
          </p:cNvSpPr>
          <p:nvPr>
            <p:ph type="title"/>
          </p:nvPr>
        </p:nvSpPr>
        <p:spPr>
          <a:xfrm>
            <a:off x="1272746" y="474157"/>
            <a:ext cx="9700054" cy="769441"/>
          </a:xfrm>
        </p:spPr>
        <p:txBody>
          <a:bodyPr>
            <a:normAutofit fontScale="90000"/>
          </a:bodyPr>
          <a:lstStyle/>
          <a:p>
            <a:br>
              <a:rPr lang="fr-FR" sz="4000" b="1" dirty="0"/>
            </a:br>
            <a:endParaRPr lang="en-US" dirty="0"/>
          </a:p>
        </p:txBody>
      </p:sp>
      <p:sp>
        <p:nvSpPr>
          <p:cNvPr id="3" name="Espace réservé du contenu 2">
            <a:extLst>
              <a:ext uri="{FF2B5EF4-FFF2-40B4-BE49-F238E27FC236}">
                <a16:creationId xmlns:a16="http://schemas.microsoft.com/office/drawing/2014/main" id="{EEB0850F-2293-BBE8-5008-DC889C698CBA}"/>
              </a:ext>
            </a:extLst>
          </p:cNvPr>
          <p:cNvSpPr>
            <a:spLocks noGrp="1"/>
          </p:cNvSpPr>
          <p:nvPr>
            <p:ph idx="1"/>
          </p:nvPr>
        </p:nvSpPr>
        <p:spPr>
          <a:xfrm>
            <a:off x="1272746" y="1302583"/>
            <a:ext cx="9848335" cy="5081260"/>
          </a:xfrm>
        </p:spPr>
        <p:txBody>
          <a:bodyPr/>
          <a:lstStyle/>
          <a:p>
            <a:pPr marL="0" indent="0" algn="just">
              <a:lnSpc>
                <a:spcPct val="150000"/>
              </a:lnSpc>
              <a:buNone/>
            </a:pPr>
            <a:r>
              <a:rPr lang="fr-MA" sz="1600" dirty="0">
                <a:latin typeface="Cambria" panose="02040503050406030204" pitchFamily="18" charset="0"/>
                <a:ea typeface="Cambria" panose="02040503050406030204" pitchFamily="18" charset="0"/>
              </a:rPr>
              <a:t>A l'issue des contrôles réalisés, des anomalies de données ont été identifiées, notamment sur la situation familiale et le nombre d'enfants à charges. Ces incohérences ont été corrigées préalablement à la poursuite du projet.  Le dispositif a été développé sous Power BI, avec un focus sur les indicateurs globaux, la performance des agences, ainsi que sur  la liste  des clients.</a:t>
            </a:r>
          </a:p>
          <a:p>
            <a:pPr>
              <a:buFont typeface="Wingdings" panose="05000000000000000000" pitchFamily="2" charset="2"/>
              <a:buChar char="Ø"/>
            </a:pPr>
            <a:r>
              <a:rPr lang="fr-MA" sz="2400" b="1" dirty="0">
                <a:latin typeface="+mj-lt"/>
                <a:ea typeface="Cambria" panose="02040503050406030204" pitchFamily="18" charset="0"/>
              </a:rPr>
              <a:t>Indicateurs globaux</a:t>
            </a:r>
          </a:p>
          <a:p>
            <a:pPr marL="0" indent="0">
              <a:lnSpc>
                <a:spcPct val="150000"/>
              </a:lnSpc>
              <a:buNone/>
            </a:pPr>
            <a:r>
              <a:rPr lang="fr-MA" sz="1600" dirty="0">
                <a:latin typeface="Cambria" panose="02040503050406030204" pitchFamily="18" charset="0"/>
                <a:ea typeface="Cambria" panose="02040503050406030204" pitchFamily="18" charset="0"/>
              </a:rPr>
              <a:t>Ils portent sur l</a:t>
            </a:r>
            <a:r>
              <a:rPr lang="fr-MA" sz="1600" i="0" dirty="0">
                <a:latin typeface="Cambria" panose="02040503050406030204" pitchFamily="18" charset="0"/>
                <a:ea typeface="Cambria" panose="02040503050406030204" pitchFamily="18" charset="0"/>
              </a:rPr>
              <a:t>es montants des opérations immobilières</a:t>
            </a:r>
            <a:r>
              <a:rPr lang="fr-MA" sz="1600" dirty="0">
                <a:latin typeface="Cambria" panose="02040503050406030204" pitchFamily="18" charset="0"/>
                <a:ea typeface="Cambria" panose="02040503050406030204" pitchFamily="18" charset="0"/>
              </a:rPr>
              <a:t>, l</a:t>
            </a:r>
            <a:r>
              <a:rPr lang="fr-MA" sz="1600" i="0" dirty="0">
                <a:latin typeface="Cambria" panose="02040503050406030204" pitchFamily="18" charset="0"/>
                <a:ea typeface="Cambria" panose="02040503050406030204" pitchFamily="18" charset="0"/>
              </a:rPr>
              <a:t>es dossiers en attente de prise en charge,  la qualité des dossiers du réseau et le score emprunteur</a:t>
            </a:r>
          </a:p>
          <a:p>
            <a:pPr>
              <a:buFont typeface="Wingdings" panose="05000000000000000000" pitchFamily="2" charset="2"/>
              <a:buChar char="Ø"/>
            </a:pPr>
            <a:r>
              <a:rPr lang="fr-MA" b="1" dirty="0">
                <a:latin typeface="Franklin Gothic Book (En-têtes)"/>
                <a:ea typeface="Cambria" panose="02040503050406030204" pitchFamily="18" charset="0"/>
              </a:rPr>
              <a:t>Per</a:t>
            </a:r>
            <a:r>
              <a:rPr lang="fr-FR" b="1" dirty="0">
                <a:latin typeface="Franklin Gothic Book (En-têtes)"/>
              </a:rPr>
              <a:t>formance des Agences</a:t>
            </a:r>
            <a:endParaRPr lang="fr-MA" b="1" dirty="0">
              <a:ea typeface="Cambria" panose="02040503050406030204" pitchFamily="18" charset="0"/>
            </a:endParaRPr>
          </a:p>
          <a:p>
            <a:pPr marL="0" indent="0">
              <a:lnSpc>
                <a:spcPct val="150000"/>
              </a:lnSpc>
              <a:buNone/>
            </a:pPr>
            <a:r>
              <a:rPr lang="fr-MA" dirty="0">
                <a:latin typeface="Cambria" panose="02040503050406030204" pitchFamily="18" charset="0"/>
                <a:ea typeface="Cambria" panose="02040503050406030204" pitchFamily="18" charset="0"/>
              </a:rPr>
              <a:t> </a:t>
            </a:r>
            <a:r>
              <a:rPr lang="fr-MA" sz="1600" dirty="0">
                <a:latin typeface="Cambria" panose="02040503050406030204" pitchFamily="18" charset="0"/>
                <a:ea typeface="Cambria" panose="02040503050406030204" pitchFamily="18" charset="0"/>
              </a:rPr>
              <a:t>Elle est consacrée aux indicateurs relatifs aux volumes de dossiers et au délai de traitement , par agence.</a:t>
            </a:r>
          </a:p>
          <a:p>
            <a:pPr>
              <a:buFont typeface="Wingdings" panose="05000000000000000000" pitchFamily="2" charset="2"/>
              <a:buChar char="Ø"/>
            </a:pPr>
            <a:r>
              <a:rPr lang="fr-MA" b="1" dirty="0">
                <a:latin typeface="+mj-lt"/>
                <a:ea typeface="Cambria" panose="02040503050406030204" pitchFamily="18" charset="0"/>
              </a:rPr>
              <a:t>Liste des  clients</a:t>
            </a:r>
          </a:p>
          <a:p>
            <a:pPr marL="0" indent="0" algn="just">
              <a:buNone/>
            </a:pPr>
            <a:r>
              <a:rPr lang="fr-MA" sz="1600" dirty="0">
                <a:latin typeface="Cambria" panose="02040503050406030204" pitchFamily="18" charset="0"/>
                <a:ea typeface="Cambria" panose="02040503050406030204" pitchFamily="18" charset="0"/>
              </a:rPr>
              <a:t>Elle présente, par client, le montant  total des opérations, la ville et la date de demande</a:t>
            </a:r>
          </a:p>
          <a:p>
            <a:pPr marL="0" indent="0" algn="just">
              <a:buNone/>
            </a:pPr>
            <a:endParaRPr lang="fr-MA" sz="1600" dirty="0">
              <a:latin typeface="Cambria" panose="02040503050406030204" pitchFamily="18" charset="0"/>
              <a:ea typeface="Cambria" panose="02040503050406030204" pitchFamily="18" charset="0"/>
            </a:endParaRPr>
          </a:p>
          <a:p>
            <a:pPr marL="0" indent="0">
              <a:buNone/>
            </a:pPr>
            <a:endParaRPr lang="fr-MA" sz="1600" dirty="0">
              <a:latin typeface="+mj-lt"/>
              <a:ea typeface="Cambria" panose="02040503050406030204" pitchFamily="18" charset="0"/>
            </a:endParaRPr>
          </a:p>
        </p:txBody>
      </p:sp>
      <p:sp>
        <p:nvSpPr>
          <p:cNvPr id="4" name="ZoneTexte 3">
            <a:extLst>
              <a:ext uri="{FF2B5EF4-FFF2-40B4-BE49-F238E27FC236}">
                <a16:creationId xmlns:a16="http://schemas.microsoft.com/office/drawing/2014/main" id="{32D96FA6-3E57-10D3-CB93-EC3CD84552E5}"/>
              </a:ext>
            </a:extLst>
          </p:cNvPr>
          <p:cNvSpPr txBox="1"/>
          <p:nvPr/>
        </p:nvSpPr>
        <p:spPr>
          <a:xfrm>
            <a:off x="1219200" y="409644"/>
            <a:ext cx="6093500" cy="769441"/>
          </a:xfrm>
          <a:prstGeom prst="rect">
            <a:avLst/>
          </a:prstGeom>
          <a:noFill/>
        </p:spPr>
        <p:txBody>
          <a:bodyPr wrap="square">
            <a:spAutoFit/>
          </a:bodyPr>
          <a:lstStyle/>
          <a:p>
            <a:r>
              <a:rPr lang="fr-FR" sz="4400" b="1" dirty="0"/>
              <a:t>Constats structurants</a:t>
            </a:r>
            <a:endParaRPr lang="en-US" sz="4400" dirty="0"/>
          </a:p>
        </p:txBody>
      </p:sp>
      <p:sp>
        <p:nvSpPr>
          <p:cNvPr id="5" name="Espace réservé du numéro de diapositive 4">
            <a:extLst>
              <a:ext uri="{FF2B5EF4-FFF2-40B4-BE49-F238E27FC236}">
                <a16:creationId xmlns:a16="http://schemas.microsoft.com/office/drawing/2014/main" id="{1442E337-44AC-2E28-4BFF-73BBB9DE5EA5}"/>
              </a:ext>
            </a:extLst>
          </p:cNvPr>
          <p:cNvSpPr>
            <a:spLocks noGrp="1"/>
          </p:cNvSpPr>
          <p:nvPr>
            <p:ph type="sldNum" sz="quarter" idx="12"/>
          </p:nvPr>
        </p:nvSpPr>
        <p:spPr/>
        <p:txBody>
          <a:bodyPr/>
          <a:lstStyle/>
          <a:p>
            <a:fld id="{5D6484A1-CC52-44C7-BFE1-91FF3DDB54BD}" type="slidenum">
              <a:rPr lang="en-US" smtClean="0"/>
              <a:t>4</a:t>
            </a:fld>
            <a:endParaRPr lang="en-US"/>
          </a:p>
        </p:txBody>
      </p:sp>
    </p:spTree>
    <p:extLst>
      <p:ext uri="{BB962C8B-B14F-4D97-AF65-F5344CB8AC3E}">
        <p14:creationId xmlns:p14="http://schemas.microsoft.com/office/powerpoint/2010/main" val="1935315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12" descr="Une image contenant texte, capture d’écran, ordinateur, Rectangle">
            <a:extLst>
              <a:ext uri="{FF2B5EF4-FFF2-40B4-BE49-F238E27FC236}">
                <a16:creationId xmlns:a16="http://schemas.microsoft.com/office/drawing/2014/main" id="{F18C562F-AE31-65F2-841B-7A853E8E10DC}"/>
              </a:ext>
            </a:extLst>
          </p:cNvPr>
          <p:cNvPicPr>
            <a:picLocks noChangeAspect="1"/>
          </p:cNvPicPr>
          <p:nvPr/>
        </p:nvPicPr>
        <p:blipFill>
          <a:blip r:embed="rId3"/>
          <a:stretch>
            <a:fillRect/>
          </a:stretch>
        </p:blipFill>
        <p:spPr>
          <a:xfrm>
            <a:off x="1072657" y="561004"/>
            <a:ext cx="10046685" cy="4850446"/>
          </a:xfrm>
          <a:prstGeom prst="rect">
            <a:avLst/>
          </a:prstGeom>
        </p:spPr>
      </p:pic>
      <p:sp>
        <p:nvSpPr>
          <p:cNvPr id="16" name="ZoneTexte 15">
            <a:extLst>
              <a:ext uri="{FF2B5EF4-FFF2-40B4-BE49-F238E27FC236}">
                <a16:creationId xmlns:a16="http://schemas.microsoft.com/office/drawing/2014/main" id="{AFE32D3C-AAE5-5830-FC94-2D7F87B0CB27}"/>
              </a:ext>
            </a:extLst>
          </p:cNvPr>
          <p:cNvSpPr txBox="1"/>
          <p:nvPr/>
        </p:nvSpPr>
        <p:spPr>
          <a:xfrm>
            <a:off x="3049248" y="5600341"/>
            <a:ext cx="7728679" cy="461665"/>
          </a:xfrm>
          <a:prstGeom prst="rect">
            <a:avLst/>
          </a:prstGeom>
          <a:noFill/>
        </p:spPr>
        <p:txBody>
          <a:bodyPr wrap="square">
            <a:spAutoFit/>
          </a:bodyPr>
          <a:lstStyle/>
          <a:p>
            <a:r>
              <a:rPr lang="fr-FR" sz="2000" u="sng" dirty="0"/>
              <a:t>Figure 1 : Montant des opérations immobilières par année et accord</a:t>
            </a:r>
            <a:r>
              <a:rPr lang="fr-FR" sz="2400" u="sng" dirty="0"/>
              <a:t> </a:t>
            </a:r>
            <a:endParaRPr lang="en-US" sz="2400" u="sng" dirty="0"/>
          </a:p>
        </p:txBody>
      </p:sp>
      <p:sp>
        <p:nvSpPr>
          <p:cNvPr id="17" name="Espace réservé du numéro de diapositive 16">
            <a:extLst>
              <a:ext uri="{FF2B5EF4-FFF2-40B4-BE49-F238E27FC236}">
                <a16:creationId xmlns:a16="http://schemas.microsoft.com/office/drawing/2014/main" id="{B9CE47F9-ACC3-9D99-EE85-6D0D62595178}"/>
              </a:ext>
            </a:extLst>
          </p:cNvPr>
          <p:cNvSpPr>
            <a:spLocks noGrp="1"/>
          </p:cNvSpPr>
          <p:nvPr>
            <p:ph type="sldNum" sz="quarter" idx="12"/>
          </p:nvPr>
        </p:nvSpPr>
        <p:spPr/>
        <p:txBody>
          <a:bodyPr/>
          <a:lstStyle/>
          <a:p>
            <a:fld id="{5D6484A1-CC52-44C7-BFE1-91FF3DDB54BD}" type="slidenum">
              <a:rPr lang="en-US" smtClean="0"/>
              <a:t>5</a:t>
            </a:fld>
            <a:endParaRPr lang="en-US"/>
          </a:p>
        </p:txBody>
      </p:sp>
    </p:spTree>
    <p:extLst>
      <p:ext uri="{BB962C8B-B14F-4D97-AF65-F5344CB8AC3E}">
        <p14:creationId xmlns:p14="http://schemas.microsoft.com/office/powerpoint/2010/main" val="1325455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4E44903-7EC4-95FE-16E4-5B2F9C59769F}"/>
              </a:ext>
            </a:extLst>
          </p:cNvPr>
          <p:cNvSpPr>
            <a:spLocks noGrp="1"/>
          </p:cNvSpPr>
          <p:nvPr>
            <p:ph idx="1"/>
          </p:nvPr>
        </p:nvSpPr>
        <p:spPr>
          <a:xfrm>
            <a:off x="1295400" y="978733"/>
            <a:ext cx="9857282" cy="5182224"/>
          </a:xfrm>
        </p:spPr>
        <p:txBody>
          <a:bodyPr>
            <a:normAutofit/>
          </a:bodyPr>
          <a:lstStyle/>
          <a:p>
            <a:pPr marL="0" indent="0" algn="just">
              <a:lnSpc>
                <a:spcPct val="150000"/>
              </a:lnSpc>
              <a:buNone/>
            </a:pPr>
            <a:r>
              <a:rPr lang="fr-MA" sz="1600" dirty="0">
                <a:latin typeface="Cambria" panose="02040503050406030204" pitchFamily="18" charset="0"/>
                <a:ea typeface="Cambria" panose="02040503050406030204" pitchFamily="18" charset="0"/>
              </a:rPr>
              <a:t>En 2018, les prêts accordés s’élèvent à 6,2 M€, soit 80,3 % des demandes. L’année suivante, en 2019, le montant accordé diminue à 3,9 M€, pour un taux d’accord de 71,7 %. </a:t>
            </a:r>
          </a:p>
          <a:p>
            <a:pPr marL="0" indent="0" algn="just">
              <a:lnSpc>
                <a:spcPct val="150000"/>
              </a:lnSpc>
              <a:buNone/>
            </a:pPr>
            <a:r>
              <a:rPr lang="fr-MA" sz="1600" dirty="0">
                <a:latin typeface="Cambria" panose="02040503050406030204" pitchFamily="18" charset="0"/>
                <a:ea typeface="Cambria" panose="02040503050406030204" pitchFamily="18" charset="0"/>
              </a:rPr>
              <a:t>En 2020, la situation se redresse, avec des montants accordés de 5,6 M€, correspondant à un taux d’accord de 80,3 %. Parallèlement, les montants des refus passent de 1,2 M€ en 2018 à 1,7 M€ en 2019, puis à 1,5 M€ en 2020 et à environ 0,6 M€ en 2021. </a:t>
            </a:r>
          </a:p>
          <a:p>
            <a:pPr marL="0" indent="0" algn="just">
              <a:lnSpc>
                <a:spcPct val="150000"/>
              </a:lnSpc>
              <a:buNone/>
            </a:pPr>
            <a:r>
              <a:rPr lang="fr-MA" sz="1600" dirty="0">
                <a:latin typeface="Cambria" panose="02040503050406030204" pitchFamily="18" charset="0"/>
                <a:ea typeface="Cambria" panose="02040503050406030204" pitchFamily="18" charset="0"/>
              </a:rPr>
              <a:t>En revanche, l’exercice 2021 présente une incertitude notable : le taux d’accord apparent chute à 60 % et plus d’un quart des demandes demeurent en attente de prise en charge, ce qui réduit la visibilité sur l’exposition au risque crédit et les besoins de provisionnement.</a:t>
            </a:r>
          </a:p>
          <a:p>
            <a:pPr>
              <a:lnSpc>
                <a:spcPct val="150000"/>
              </a:lnSpc>
            </a:pPr>
            <a:endParaRPr lang="en-US" dirty="0"/>
          </a:p>
        </p:txBody>
      </p:sp>
      <p:sp>
        <p:nvSpPr>
          <p:cNvPr id="9" name="Espace réservé du numéro de diapositive 8">
            <a:extLst>
              <a:ext uri="{FF2B5EF4-FFF2-40B4-BE49-F238E27FC236}">
                <a16:creationId xmlns:a16="http://schemas.microsoft.com/office/drawing/2014/main" id="{346E2114-5CC2-DF35-E94B-A9757628067E}"/>
              </a:ext>
            </a:extLst>
          </p:cNvPr>
          <p:cNvSpPr>
            <a:spLocks noGrp="1"/>
          </p:cNvSpPr>
          <p:nvPr>
            <p:ph type="sldNum" sz="quarter" idx="12"/>
          </p:nvPr>
        </p:nvSpPr>
        <p:spPr/>
        <p:txBody>
          <a:bodyPr/>
          <a:lstStyle/>
          <a:p>
            <a:fld id="{5D6484A1-CC52-44C7-BFE1-91FF3DDB54BD}" type="slidenum">
              <a:rPr lang="en-US" smtClean="0"/>
              <a:t>6</a:t>
            </a:fld>
            <a:endParaRPr lang="en-US"/>
          </a:p>
        </p:txBody>
      </p:sp>
    </p:spTree>
    <p:extLst>
      <p:ext uri="{BB962C8B-B14F-4D97-AF65-F5344CB8AC3E}">
        <p14:creationId xmlns:p14="http://schemas.microsoft.com/office/powerpoint/2010/main" val="1539848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1EF2A9FB-3326-2A68-3B15-5CEC535334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8464" y="694257"/>
            <a:ext cx="6925642" cy="1867161"/>
          </a:xfrm>
          <a:prstGeom prst="rect">
            <a:avLst/>
          </a:prstGeom>
        </p:spPr>
      </p:pic>
      <p:sp>
        <p:nvSpPr>
          <p:cNvPr id="6" name="Espace réservé du contenu 2">
            <a:extLst>
              <a:ext uri="{FF2B5EF4-FFF2-40B4-BE49-F238E27FC236}">
                <a16:creationId xmlns:a16="http://schemas.microsoft.com/office/drawing/2014/main" id="{B730936D-DF4B-293A-3EAF-BF2751727E8D}"/>
              </a:ext>
            </a:extLst>
          </p:cNvPr>
          <p:cNvSpPr>
            <a:spLocks noGrp="1"/>
          </p:cNvSpPr>
          <p:nvPr>
            <p:ph idx="1"/>
          </p:nvPr>
        </p:nvSpPr>
        <p:spPr>
          <a:xfrm>
            <a:off x="1913837" y="2680091"/>
            <a:ext cx="7210269" cy="505293"/>
          </a:xfrm>
        </p:spPr>
        <p:txBody>
          <a:bodyPr>
            <a:normAutofit/>
          </a:bodyPr>
          <a:lstStyle/>
          <a:p>
            <a:pPr marL="0" indent="0" algn="ctr">
              <a:buNone/>
            </a:pPr>
            <a:r>
              <a:rPr lang="fr-FR" u="sng" dirty="0">
                <a:latin typeface="Calibri (Corps)"/>
              </a:rPr>
              <a:t>Figure 2 : Table avec score emprunteur</a:t>
            </a:r>
            <a:endParaRPr lang="en-US" u="sng" dirty="0">
              <a:latin typeface="Calibri (Corps)"/>
            </a:endParaRPr>
          </a:p>
        </p:txBody>
      </p:sp>
      <p:sp>
        <p:nvSpPr>
          <p:cNvPr id="7" name="Espace réservé du contenu 2">
            <a:extLst>
              <a:ext uri="{FF2B5EF4-FFF2-40B4-BE49-F238E27FC236}">
                <a16:creationId xmlns:a16="http://schemas.microsoft.com/office/drawing/2014/main" id="{CEF71259-6F2C-11CE-BBF5-4832168CBD69}"/>
              </a:ext>
            </a:extLst>
          </p:cNvPr>
          <p:cNvSpPr txBox="1">
            <a:spLocks/>
          </p:cNvSpPr>
          <p:nvPr/>
        </p:nvSpPr>
        <p:spPr>
          <a:xfrm>
            <a:off x="1538897" y="3176353"/>
            <a:ext cx="8519503" cy="2744762"/>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ctr">
              <a:buFont typeface="Franklin Gothic Book" panose="020B0503020102020204" pitchFamily="34" charset="0"/>
              <a:buNone/>
            </a:pPr>
            <a:endParaRPr lang="en-US" sz="1600" dirty="0"/>
          </a:p>
        </p:txBody>
      </p:sp>
      <p:sp>
        <p:nvSpPr>
          <p:cNvPr id="8" name="Espace réservé du contenu 2">
            <a:extLst>
              <a:ext uri="{FF2B5EF4-FFF2-40B4-BE49-F238E27FC236}">
                <a16:creationId xmlns:a16="http://schemas.microsoft.com/office/drawing/2014/main" id="{645F63D5-BEE4-4D14-E370-ADED5B5F0D7D}"/>
              </a:ext>
            </a:extLst>
          </p:cNvPr>
          <p:cNvSpPr txBox="1">
            <a:spLocks/>
          </p:cNvSpPr>
          <p:nvPr/>
        </p:nvSpPr>
        <p:spPr>
          <a:xfrm>
            <a:off x="1659003" y="3429000"/>
            <a:ext cx="9253836" cy="3107050"/>
          </a:xfrm>
          <a:prstGeom prst="rect">
            <a:avLst/>
          </a:prstGeom>
        </p:spPr>
        <p:txBody>
          <a:bodyPr vert="horz" lIns="91440" tIns="45720" rIns="91440" bIns="45720" rtlCol="0">
            <a:normAutofit fontScale="92500"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just">
              <a:lnSpc>
                <a:spcPct val="160000"/>
              </a:lnSpc>
              <a:buNone/>
            </a:pPr>
            <a:r>
              <a:rPr lang="fr-MA" sz="1600" dirty="0">
                <a:latin typeface="Cambria" panose="02040503050406030204" pitchFamily="18" charset="0"/>
                <a:ea typeface="Cambria" panose="02040503050406030204" pitchFamily="18" charset="0"/>
              </a:rPr>
              <a:t>Un </a:t>
            </a:r>
            <a:r>
              <a:rPr lang="fr-MA" sz="1600" b="1" dirty="0">
                <a:latin typeface="Cambria" panose="02040503050406030204" pitchFamily="18" charset="0"/>
                <a:ea typeface="Cambria" panose="02040503050406030204" pitchFamily="18" charset="0"/>
              </a:rPr>
              <a:t>score emprunteur</a:t>
            </a:r>
            <a:r>
              <a:rPr lang="fr-MA" sz="1600" dirty="0">
                <a:latin typeface="Cambria" panose="02040503050406030204" pitchFamily="18" charset="0"/>
                <a:ea typeface="Cambria" panose="02040503050406030204" pitchFamily="18" charset="0"/>
              </a:rPr>
              <a:t> a été instauré afin d’accélérer la décision commerciale ; il indique si une demande de crédit doit être </a:t>
            </a:r>
            <a:r>
              <a:rPr lang="fr-MA" sz="1600" b="1" dirty="0">
                <a:latin typeface="Cambria" panose="02040503050406030204" pitchFamily="18" charset="0"/>
                <a:ea typeface="Cambria" panose="02040503050406030204" pitchFamily="18" charset="0"/>
              </a:rPr>
              <a:t>acceptée</a:t>
            </a:r>
            <a:r>
              <a:rPr lang="fr-MA" sz="1600" dirty="0">
                <a:latin typeface="Cambria" panose="02040503050406030204" pitchFamily="18" charset="0"/>
                <a:ea typeface="Cambria" panose="02040503050406030204" pitchFamily="18" charset="0"/>
              </a:rPr>
              <a:t> ou </a:t>
            </a:r>
            <a:r>
              <a:rPr lang="fr-MA" sz="1600" b="1" dirty="0">
                <a:latin typeface="Cambria" panose="02040503050406030204" pitchFamily="18" charset="0"/>
                <a:ea typeface="Cambria" panose="02040503050406030204" pitchFamily="18" charset="0"/>
              </a:rPr>
              <a:t>refusée</a:t>
            </a:r>
            <a:r>
              <a:rPr lang="fr-MA" sz="1600" dirty="0">
                <a:latin typeface="Cambria" panose="02040503050406030204" pitchFamily="18" charset="0"/>
                <a:ea typeface="Cambria" panose="02040503050406030204" pitchFamily="18" charset="0"/>
              </a:rPr>
              <a:t>. Par ailleurs, toute opération immobilière dont le montant </a:t>
            </a:r>
            <a:r>
              <a:rPr lang="fr-MA" sz="1600" b="1" dirty="0">
                <a:latin typeface="Cambria" panose="02040503050406030204" pitchFamily="18" charset="0"/>
                <a:ea typeface="Cambria" panose="02040503050406030204" pitchFamily="18" charset="0"/>
              </a:rPr>
              <a:t>excède 250 000 €</a:t>
            </a:r>
            <a:r>
              <a:rPr lang="fr-MA" sz="1600" dirty="0">
                <a:latin typeface="Cambria" panose="02040503050406030204" pitchFamily="18" charset="0"/>
                <a:ea typeface="Cambria" panose="02040503050406030204" pitchFamily="18" charset="0"/>
              </a:rPr>
              <a:t> déclenche une </a:t>
            </a:r>
            <a:r>
              <a:rPr lang="fr-MA" sz="1600" b="1" dirty="0">
                <a:latin typeface="Cambria" panose="02040503050406030204" pitchFamily="18" charset="0"/>
                <a:ea typeface="Cambria" panose="02040503050406030204" pitchFamily="18" charset="0"/>
              </a:rPr>
              <a:t>alerte rouge</a:t>
            </a:r>
            <a:r>
              <a:rPr lang="fr-MA" sz="1600" dirty="0">
                <a:latin typeface="Cambria" panose="02040503050406030204" pitchFamily="18" charset="0"/>
                <a:ea typeface="Cambria" panose="02040503050406030204" pitchFamily="18" charset="0"/>
              </a:rPr>
              <a:t>.</a:t>
            </a:r>
          </a:p>
          <a:p>
            <a:pPr marL="0" indent="0" algn="just">
              <a:lnSpc>
                <a:spcPct val="160000"/>
              </a:lnSpc>
              <a:buNone/>
            </a:pPr>
            <a:r>
              <a:rPr lang="fr-MA" sz="1600" dirty="0">
                <a:latin typeface="Cambria" panose="02040503050406030204" pitchFamily="18" charset="0"/>
                <a:ea typeface="Cambria" panose="02040503050406030204" pitchFamily="18" charset="0"/>
              </a:rPr>
              <a:t>Après déploiement du score et examen des dossiers au statut définitif (hors demandes en attente), </a:t>
            </a:r>
            <a:r>
              <a:rPr lang="fr-MA" sz="1600" b="1" dirty="0">
                <a:latin typeface="Cambria" panose="02040503050406030204" pitchFamily="18" charset="0"/>
                <a:ea typeface="Cambria" panose="02040503050406030204" pitchFamily="18" charset="0"/>
              </a:rPr>
              <a:t>196</a:t>
            </a:r>
            <a:r>
              <a:rPr lang="fr-MA" sz="1600" dirty="0">
                <a:latin typeface="Cambria" panose="02040503050406030204" pitchFamily="18" charset="0"/>
                <a:ea typeface="Cambria" panose="02040503050406030204" pitchFamily="18" charset="0"/>
              </a:rPr>
              <a:t> décisions ont été analysées. Selon le score, </a:t>
            </a:r>
            <a:r>
              <a:rPr lang="fr-MA" sz="1600" b="1" dirty="0">
                <a:latin typeface="Cambria" panose="02040503050406030204" pitchFamily="18" charset="0"/>
                <a:ea typeface="Cambria" panose="02040503050406030204" pitchFamily="18" charset="0"/>
              </a:rPr>
              <a:t>108</a:t>
            </a:r>
            <a:r>
              <a:rPr lang="fr-MA" sz="1600" dirty="0">
                <a:latin typeface="Cambria" panose="02040503050406030204" pitchFamily="18" charset="0"/>
                <a:ea typeface="Cambria" panose="02040503050406030204" pitchFamily="18" charset="0"/>
              </a:rPr>
              <a:t> dossiers auraient dû être acceptés, soit </a:t>
            </a:r>
            <a:r>
              <a:rPr lang="fr-MA" sz="1600" b="1" dirty="0">
                <a:latin typeface="Cambria" panose="02040503050406030204" pitchFamily="18" charset="0"/>
                <a:ea typeface="Cambria" panose="02040503050406030204" pitchFamily="18" charset="0"/>
              </a:rPr>
              <a:t>55,1 %</a:t>
            </a:r>
            <a:r>
              <a:rPr lang="fr-MA" sz="1600" dirty="0">
                <a:latin typeface="Cambria" panose="02040503050406030204" pitchFamily="18" charset="0"/>
                <a:ea typeface="Cambria" panose="02040503050406030204" pitchFamily="18" charset="0"/>
              </a:rPr>
              <a:t> de l’échantillon. En revanche, la </a:t>
            </a:r>
            <a:r>
              <a:rPr lang="fr-MA" sz="1600" b="1" dirty="0">
                <a:latin typeface="Cambria" panose="02040503050406030204" pitchFamily="18" charset="0"/>
                <a:ea typeface="Cambria" panose="02040503050406030204" pitchFamily="18" charset="0"/>
              </a:rPr>
              <a:t>figure 1</a:t>
            </a:r>
            <a:r>
              <a:rPr lang="fr-MA" sz="1600" dirty="0">
                <a:latin typeface="Cambria" panose="02040503050406030204" pitchFamily="18" charset="0"/>
                <a:ea typeface="Cambria" panose="02040503050406030204" pitchFamily="18" charset="0"/>
              </a:rPr>
              <a:t> met en évidence un taux d’acceptation observé sensiblement supérieur à ce niveau attendu, ce qui indique que </a:t>
            </a:r>
            <a:r>
              <a:rPr lang="fr-MA" sz="1600" b="1" dirty="0">
                <a:latin typeface="Cambria" panose="02040503050406030204" pitchFamily="18" charset="0"/>
                <a:ea typeface="Cambria" panose="02040503050406030204" pitchFamily="18" charset="0"/>
              </a:rPr>
              <a:t>certaines demandes effectivement acceptées auraient dû, selon le score, être refusées</a:t>
            </a:r>
            <a:r>
              <a:rPr lang="fr-MA" sz="1600" dirty="0">
                <a:latin typeface="Cambria" panose="02040503050406030204" pitchFamily="18" charset="0"/>
                <a:ea typeface="Cambria" panose="02040503050406030204" pitchFamily="18" charset="0"/>
              </a:rPr>
              <a:t>.</a:t>
            </a:r>
            <a:endParaRPr lang="fr-MA" sz="1600" dirty="0">
              <a:effectLst/>
              <a:latin typeface="Cambria" panose="02040503050406030204" pitchFamily="18" charset="0"/>
              <a:ea typeface="Cambria" panose="02040503050406030204" pitchFamily="18" charset="0"/>
            </a:endParaRPr>
          </a:p>
        </p:txBody>
      </p:sp>
      <p:sp>
        <p:nvSpPr>
          <p:cNvPr id="9" name="Espace réservé du numéro de diapositive 8">
            <a:extLst>
              <a:ext uri="{FF2B5EF4-FFF2-40B4-BE49-F238E27FC236}">
                <a16:creationId xmlns:a16="http://schemas.microsoft.com/office/drawing/2014/main" id="{563A8E87-26C3-5F09-5975-5731FF20C2ED}"/>
              </a:ext>
            </a:extLst>
          </p:cNvPr>
          <p:cNvSpPr>
            <a:spLocks noGrp="1"/>
          </p:cNvSpPr>
          <p:nvPr>
            <p:ph type="sldNum" sz="quarter" idx="12"/>
          </p:nvPr>
        </p:nvSpPr>
        <p:spPr/>
        <p:txBody>
          <a:bodyPr/>
          <a:lstStyle/>
          <a:p>
            <a:fld id="{5D6484A1-CC52-44C7-BFE1-91FF3DDB54BD}" type="slidenum">
              <a:rPr lang="en-US" smtClean="0"/>
              <a:t>7</a:t>
            </a:fld>
            <a:endParaRPr lang="en-US"/>
          </a:p>
        </p:txBody>
      </p:sp>
    </p:spTree>
    <p:extLst>
      <p:ext uri="{BB962C8B-B14F-4D97-AF65-F5344CB8AC3E}">
        <p14:creationId xmlns:p14="http://schemas.microsoft.com/office/powerpoint/2010/main" val="3340894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040887AE-0BFF-8BC8-BD9E-D4D8BECED406}"/>
              </a:ext>
            </a:extLst>
          </p:cNvPr>
          <p:cNvSpPr>
            <a:spLocks noGrp="1"/>
          </p:cNvSpPr>
          <p:nvPr>
            <p:ph type="title"/>
          </p:nvPr>
        </p:nvSpPr>
        <p:spPr>
          <a:xfrm>
            <a:off x="1371600" y="561506"/>
            <a:ext cx="9601200" cy="607727"/>
          </a:xfrm>
        </p:spPr>
        <p:txBody>
          <a:bodyPr>
            <a:noAutofit/>
          </a:bodyPr>
          <a:lstStyle/>
          <a:p>
            <a:pPr marL="457200" indent="-457200">
              <a:buFont typeface="Wingdings" panose="05000000000000000000" pitchFamily="2" charset="2"/>
              <a:buChar char="Ø"/>
            </a:pPr>
            <a:r>
              <a:rPr lang="fr-FR" sz="2400" b="1" dirty="0">
                <a:latin typeface="Franklin Gothic Book (En-têtes)"/>
              </a:rPr>
              <a:t>Performance des Agences</a:t>
            </a:r>
            <a:endParaRPr lang="en-US" sz="2400" b="1" dirty="0">
              <a:latin typeface="Franklin Gothic Book (En-têtes)"/>
            </a:endParaRPr>
          </a:p>
        </p:txBody>
      </p:sp>
      <p:pic>
        <p:nvPicPr>
          <p:cNvPr id="6" name="Image 5">
            <a:extLst>
              <a:ext uri="{FF2B5EF4-FFF2-40B4-BE49-F238E27FC236}">
                <a16:creationId xmlns:a16="http://schemas.microsoft.com/office/drawing/2014/main" id="{FA63D19D-A4DC-478D-FDB2-A00CADDDCB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4220" y="1376189"/>
            <a:ext cx="9303559" cy="4105622"/>
          </a:xfrm>
          <a:prstGeom prst="rect">
            <a:avLst/>
          </a:prstGeom>
        </p:spPr>
      </p:pic>
      <p:sp>
        <p:nvSpPr>
          <p:cNvPr id="8" name="ZoneTexte 7">
            <a:extLst>
              <a:ext uri="{FF2B5EF4-FFF2-40B4-BE49-F238E27FC236}">
                <a16:creationId xmlns:a16="http://schemas.microsoft.com/office/drawing/2014/main" id="{6F96A788-BD8A-E834-CE39-E7488F2095CD}"/>
              </a:ext>
            </a:extLst>
          </p:cNvPr>
          <p:cNvSpPr txBox="1"/>
          <p:nvPr/>
        </p:nvSpPr>
        <p:spPr>
          <a:xfrm>
            <a:off x="2488367" y="5927162"/>
            <a:ext cx="8034727" cy="369332"/>
          </a:xfrm>
          <a:prstGeom prst="rect">
            <a:avLst/>
          </a:prstGeom>
          <a:noFill/>
        </p:spPr>
        <p:txBody>
          <a:bodyPr wrap="square">
            <a:spAutoFit/>
          </a:bodyPr>
          <a:lstStyle/>
          <a:p>
            <a:r>
              <a:rPr lang="fr-FR" sz="1800" u="sng" dirty="0"/>
              <a:t>Figure 3: Délai de traitement médian (jours) des demandes de prêts par année</a:t>
            </a:r>
            <a:endParaRPr lang="en-US" dirty="0"/>
          </a:p>
        </p:txBody>
      </p:sp>
      <p:sp>
        <p:nvSpPr>
          <p:cNvPr id="11" name="Espace réservé du numéro de diapositive 10">
            <a:extLst>
              <a:ext uri="{FF2B5EF4-FFF2-40B4-BE49-F238E27FC236}">
                <a16:creationId xmlns:a16="http://schemas.microsoft.com/office/drawing/2014/main" id="{74475135-93A0-EF2D-2CF7-7DD78741A78C}"/>
              </a:ext>
            </a:extLst>
          </p:cNvPr>
          <p:cNvSpPr>
            <a:spLocks noGrp="1"/>
          </p:cNvSpPr>
          <p:nvPr>
            <p:ph type="sldNum" sz="quarter" idx="12"/>
          </p:nvPr>
        </p:nvSpPr>
        <p:spPr/>
        <p:txBody>
          <a:bodyPr/>
          <a:lstStyle/>
          <a:p>
            <a:fld id="{5D6484A1-CC52-44C7-BFE1-91FF3DDB54BD}" type="slidenum">
              <a:rPr lang="en-US" smtClean="0"/>
              <a:t>8</a:t>
            </a:fld>
            <a:endParaRPr lang="en-US"/>
          </a:p>
        </p:txBody>
      </p:sp>
    </p:spTree>
    <p:extLst>
      <p:ext uri="{BB962C8B-B14F-4D97-AF65-F5344CB8AC3E}">
        <p14:creationId xmlns:p14="http://schemas.microsoft.com/office/powerpoint/2010/main" val="1639164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ABBF9ED-2836-4603-5377-95D965D094FA}"/>
              </a:ext>
            </a:extLst>
          </p:cNvPr>
          <p:cNvSpPr>
            <a:spLocks noGrp="1"/>
          </p:cNvSpPr>
          <p:nvPr>
            <p:ph idx="1"/>
          </p:nvPr>
        </p:nvSpPr>
        <p:spPr>
          <a:xfrm>
            <a:off x="1371600" y="1416570"/>
            <a:ext cx="9601200" cy="2271010"/>
          </a:xfrm>
        </p:spPr>
        <p:txBody>
          <a:bodyPr>
            <a:normAutofit/>
          </a:bodyPr>
          <a:lstStyle/>
          <a:p>
            <a:pPr marL="0" indent="0" algn="just">
              <a:lnSpc>
                <a:spcPct val="150000"/>
              </a:lnSpc>
              <a:buNone/>
            </a:pPr>
            <a:r>
              <a:rPr lang="fr-MA" sz="1600" dirty="0">
                <a:latin typeface="Cambria" panose="02040503050406030204" pitchFamily="18" charset="0"/>
                <a:ea typeface="Cambria" panose="02040503050406030204" pitchFamily="18" charset="0"/>
              </a:rPr>
              <a:t>De 2018 à 2020, la médiane du délai de traitement des demandes de prêts a augmenté de manière continue, traduisant un allongement des délais d'instructions sur cette période. </a:t>
            </a:r>
          </a:p>
          <a:p>
            <a:pPr marL="0" indent="0" algn="just">
              <a:lnSpc>
                <a:spcPct val="150000"/>
              </a:lnSpc>
              <a:buNone/>
            </a:pPr>
            <a:r>
              <a:rPr lang="fr-MA" sz="1600" dirty="0">
                <a:latin typeface="Cambria" panose="02040503050406030204" pitchFamily="18" charset="0"/>
                <a:ea typeface="Cambria" panose="02040503050406030204" pitchFamily="18" charset="0"/>
              </a:rPr>
              <a:t>Les données de 2021 ne sont pas pleinement exploitables à ce stade, l'exercice n'étant pas clos; il convient de s'abstenir de tirer des conclusions tant que l'ensemble des dossiers n'aura pas été instruit.</a:t>
            </a:r>
            <a:endParaRPr lang="en-US" sz="1600" dirty="0">
              <a:latin typeface="Cambria" panose="02040503050406030204" pitchFamily="18" charset="0"/>
              <a:ea typeface="Cambria" panose="02040503050406030204" pitchFamily="18" charset="0"/>
            </a:endParaRPr>
          </a:p>
        </p:txBody>
      </p:sp>
      <p:sp>
        <p:nvSpPr>
          <p:cNvPr id="4" name="ZoneTexte 3">
            <a:extLst>
              <a:ext uri="{FF2B5EF4-FFF2-40B4-BE49-F238E27FC236}">
                <a16:creationId xmlns:a16="http://schemas.microsoft.com/office/drawing/2014/main" id="{4C00DA76-4C80-86D8-FB1F-766C2DF97397}"/>
              </a:ext>
            </a:extLst>
          </p:cNvPr>
          <p:cNvSpPr txBox="1"/>
          <p:nvPr/>
        </p:nvSpPr>
        <p:spPr>
          <a:xfrm>
            <a:off x="1371600" y="728990"/>
            <a:ext cx="6093500" cy="523220"/>
          </a:xfrm>
          <a:prstGeom prst="rect">
            <a:avLst/>
          </a:prstGeom>
          <a:noFill/>
        </p:spPr>
        <p:txBody>
          <a:bodyPr wrap="square">
            <a:spAutoFit/>
          </a:bodyPr>
          <a:lstStyle/>
          <a:p>
            <a:endParaRPr lang="en-US" sz="2800" dirty="0"/>
          </a:p>
        </p:txBody>
      </p:sp>
      <p:sp>
        <p:nvSpPr>
          <p:cNvPr id="9" name="Espace réservé du numéro de diapositive 8">
            <a:extLst>
              <a:ext uri="{FF2B5EF4-FFF2-40B4-BE49-F238E27FC236}">
                <a16:creationId xmlns:a16="http://schemas.microsoft.com/office/drawing/2014/main" id="{9346B411-B497-739C-380C-CCA4CC2687E9}"/>
              </a:ext>
            </a:extLst>
          </p:cNvPr>
          <p:cNvSpPr>
            <a:spLocks noGrp="1"/>
          </p:cNvSpPr>
          <p:nvPr>
            <p:ph type="sldNum" sz="quarter" idx="12"/>
          </p:nvPr>
        </p:nvSpPr>
        <p:spPr/>
        <p:txBody>
          <a:bodyPr/>
          <a:lstStyle/>
          <a:p>
            <a:fld id="{5D6484A1-CC52-44C7-BFE1-91FF3DDB54BD}" type="slidenum">
              <a:rPr lang="en-US" smtClean="0"/>
              <a:t>9</a:t>
            </a:fld>
            <a:endParaRPr lang="en-US"/>
          </a:p>
        </p:txBody>
      </p:sp>
    </p:spTree>
    <p:extLst>
      <p:ext uri="{BB962C8B-B14F-4D97-AF65-F5344CB8AC3E}">
        <p14:creationId xmlns:p14="http://schemas.microsoft.com/office/powerpoint/2010/main" val="2739700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D82FF4B5-C165-65C1-56E3-424BADC5B530}"/>
              </a:ext>
            </a:extLst>
          </p:cNvPr>
          <p:cNvSpPr txBox="1"/>
          <p:nvPr/>
        </p:nvSpPr>
        <p:spPr>
          <a:xfrm>
            <a:off x="1371599" y="990600"/>
            <a:ext cx="7097843" cy="400110"/>
          </a:xfrm>
          <a:prstGeom prst="rect">
            <a:avLst/>
          </a:prstGeom>
          <a:noFill/>
        </p:spPr>
        <p:txBody>
          <a:bodyPr wrap="square">
            <a:spAutoFit/>
          </a:bodyPr>
          <a:lstStyle/>
          <a:p>
            <a:pPr>
              <a:buFont typeface="Wingdings" panose="05000000000000000000" pitchFamily="2" charset="2"/>
              <a:buChar char="Ø"/>
            </a:pPr>
            <a:r>
              <a:rPr lang="fr-MA" sz="2000" b="1" dirty="0">
                <a:latin typeface="+mj-lt"/>
                <a:ea typeface="Cambria" panose="02040503050406030204" pitchFamily="18" charset="0"/>
              </a:rPr>
              <a:t>Liste des clients</a:t>
            </a:r>
            <a:endParaRPr lang="fr-MA" sz="1600" b="1" dirty="0">
              <a:latin typeface="+mj-lt"/>
              <a:ea typeface="Cambria" panose="02040503050406030204" pitchFamily="18" charset="0"/>
            </a:endParaRPr>
          </a:p>
        </p:txBody>
      </p:sp>
      <p:pic>
        <p:nvPicPr>
          <p:cNvPr id="7" name="Image 6">
            <a:extLst>
              <a:ext uri="{FF2B5EF4-FFF2-40B4-BE49-F238E27FC236}">
                <a16:creationId xmlns:a16="http://schemas.microsoft.com/office/drawing/2014/main" id="{80C11667-122B-24EA-2097-F28911E7B5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3467" y="1611439"/>
            <a:ext cx="8345065" cy="3904942"/>
          </a:xfrm>
          <a:prstGeom prst="rect">
            <a:avLst/>
          </a:prstGeom>
        </p:spPr>
      </p:pic>
      <p:sp>
        <p:nvSpPr>
          <p:cNvPr id="9" name="ZoneTexte 8">
            <a:extLst>
              <a:ext uri="{FF2B5EF4-FFF2-40B4-BE49-F238E27FC236}">
                <a16:creationId xmlns:a16="http://schemas.microsoft.com/office/drawing/2014/main" id="{EF5797FC-EB36-3CE9-FB72-0F380CC13B92}"/>
              </a:ext>
            </a:extLst>
          </p:cNvPr>
          <p:cNvSpPr txBox="1"/>
          <p:nvPr/>
        </p:nvSpPr>
        <p:spPr>
          <a:xfrm>
            <a:off x="4545768" y="5707130"/>
            <a:ext cx="6093500" cy="369332"/>
          </a:xfrm>
          <a:prstGeom prst="rect">
            <a:avLst/>
          </a:prstGeom>
          <a:noFill/>
        </p:spPr>
        <p:txBody>
          <a:bodyPr wrap="square">
            <a:spAutoFit/>
          </a:bodyPr>
          <a:lstStyle/>
          <a:p>
            <a:r>
              <a:rPr lang="fr-FR" sz="1800" u="sng" dirty="0"/>
              <a:t>Figure 3: Liste des clients</a:t>
            </a:r>
            <a:endParaRPr lang="en-US" dirty="0"/>
          </a:p>
        </p:txBody>
      </p:sp>
      <p:sp>
        <p:nvSpPr>
          <p:cNvPr id="10" name="Espace réservé du numéro de diapositive 9">
            <a:extLst>
              <a:ext uri="{FF2B5EF4-FFF2-40B4-BE49-F238E27FC236}">
                <a16:creationId xmlns:a16="http://schemas.microsoft.com/office/drawing/2014/main" id="{CCC6D937-CDEC-340F-16F9-3FF3530B37C7}"/>
              </a:ext>
            </a:extLst>
          </p:cNvPr>
          <p:cNvSpPr>
            <a:spLocks noGrp="1"/>
          </p:cNvSpPr>
          <p:nvPr>
            <p:ph type="sldNum" sz="quarter" idx="12"/>
          </p:nvPr>
        </p:nvSpPr>
        <p:spPr/>
        <p:txBody>
          <a:bodyPr/>
          <a:lstStyle/>
          <a:p>
            <a:fld id="{5D6484A1-CC52-44C7-BFE1-91FF3DDB54BD}" type="slidenum">
              <a:rPr lang="en-US" smtClean="0"/>
              <a:t>10</a:t>
            </a:fld>
            <a:endParaRPr lang="en-US"/>
          </a:p>
        </p:txBody>
      </p:sp>
    </p:spTree>
    <p:extLst>
      <p:ext uri="{BB962C8B-B14F-4D97-AF65-F5344CB8AC3E}">
        <p14:creationId xmlns:p14="http://schemas.microsoft.com/office/powerpoint/2010/main" val="4025170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19B444F0-0327-C18E-B356-A558A8AB09EB}"/>
              </a:ext>
            </a:extLst>
          </p:cNvPr>
          <p:cNvSpPr txBox="1"/>
          <p:nvPr/>
        </p:nvSpPr>
        <p:spPr>
          <a:xfrm>
            <a:off x="1266669" y="636553"/>
            <a:ext cx="6093500" cy="769441"/>
          </a:xfrm>
          <a:prstGeom prst="rect">
            <a:avLst/>
          </a:prstGeom>
          <a:noFill/>
        </p:spPr>
        <p:txBody>
          <a:bodyPr wrap="square">
            <a:spAutoFit/>
          </a:bodyPr>
          <a:lstStyle/>
          <a:p>
            <a:r>
              <a:rPr lang="fr-FR" sz="4400" b="1" dirty="0"/>
              <a:t>Recommandations </a:t>
            </a:r>
            <a:endParaRPr lang="en-US" sz="4400" dirty="0"/>
          </a:p>
        </p:txBody>
      </p:sp>
      <p:sp>
        <p:nvSpPr>
          <p:cNvPr id="5" name="ZoneTexte 4">
            <a:extLst>
              <a:ext uri="{FF2B5EF4-FFF2-40B4-BE49-F238E27FC236}">
                <a16:creationId xmlns:a16="http://schemas.microsoft.com/office/drawing/2014/main" id="{9409A0F7-3E2A-7EEF-3328-9E1E37E3A964}"/>
              </a:ext>
            </a:extLst>
          </p:cNvPr>
          <p:cNvSpPr txBox="1"/>
          <p:nvPr/>
        </p:nvSpPr>
        <p:spPr>
          <a:xfrm>
            <a:off x="1266669" y="1631427"/>
            <a:ext cx="10140846" cy="2954655"/>
          </a:xfrm>
          <a:prstGeom prst="rect">
            <a:avLst/>
          </a:prstGeom>
          <a:noFill/>
        </p:spPr>
        <p:txBody>
          <a:bodyPr wrap="square">
            <a:spAutoFit/>
          </a:bodyPr>
          <a:lstStyle/>
          <a:p>
            <a:pPr marL="285750" indent="-285750">
              <a:lnSpc>
                <a:spcPct val="150000"/>
              </a:lnSpc>
              <a:buFont typeface="Wingdings" panose="05000000000000000000" pitchFamily="2" charset="2"/>
              <a:buChar char="§"/>
            </a:pPr>
            <a:r>
              <a:rPr lang="fr-MA" sz="1600" dirty="0">
                <a:latin typeface="Cambria" panose="02040503050406030204" pitchFamily="18" charset="0"/>
                <a:ea typeface="Cambria" panose="02040503050406030204" pitchFamily="18" charset="0"/>
              </a:rPr>
              <a:t>S’appuyer sur le score  emprunteur comme critère décisionnel principal pour l’octroi des crédits, afin de prévenir les octrois à tort, réduire l’exposition au risque crédit et garantir  la cohérence des décisions. </a:t>
            </a:r>
          </a:p>
          <a:p>
            <a:pPr>
              <a:lnSpc>
                <a:spcPct val="150000"/>
              </a:lnSpc>
            </a:pPr>
            <a:r>
              <a:rPr lang="fr-MA" sz="1600" dirty="0">
                <a:latin typeface="Cambria" panose="02040503050406030204" pitchFamily="18" charset="0"/>
                <a:ea typeface="Cambria" panose="02040503050406030204" pitchFamily="18" charset="0"/>
              </a:rPr>
              <a:t>      Toute dérogation au score devra être motivée, tracée et soumise à validation formelle.</a:t>
            </a:r>
          </a:p>
          <a:p>
            <a:pPr marL="285750" indent="-285750">
              <a:lnSpc>
                <a:spcPct val="150000"/>
              </a:lnSpc>
              <a:buFont typeface="Wingdings" panose="05000000000000000000" pitchFamily="2" charset="2"/>
              <a:buChar char="§"/>
            </a:pPr>
            <a:r>
              <a:rPr lang="fr-MA" sz="1600" dirty="0">
                <a:latin typeface="Cambria" panose="02040503050406030204" pitchFamily="18" charset="0"/>
                <a:ea typeface="Cambria" panose="02040503050406030204" pitchFamily="18" charset="0"/>
              </a:rPr>
              <a:t>Prioriser immédiatement le traitement des dossiers en attente afin de lever l’incertitude relative à l’exercice 2021 et  d’obtenir  un indicateur  de délai de traitement  médian  représentatif </a:t>
            </a:r>
          </a:p>
          <a:p>
            <a:pPr marL="285750" indent="-285750">
              <a:lnSpc>
                <a:spcPct val="150000"/>
              </a:lnSpc>
              <a:buFont typeface="Wingdings" panose="05000000000000000000" pitchFamily="2" charset="2"/>
              <a:buChar char="§"/>
            </a:pPr>
            <a:r>
              <a:rPr lang="fr-MA" sz="1600" dirty="0">
                <a:latin typeface="Cambria" panose="02040503050406030204" pitchFamily="18" charset="0"/>
                <a:ea typeface="Cambria" panose="02040503050406030204" pitchFamily="18" charset="0"/>
              </a:rPr>
              <a:t>Définir et appliquer des SLA opérationnels dans l'optique de formaliser des engagements de délai (SLA) par type de dossier et par canal, avec seuils d’alerte et escalade automatique en cas de dépassement</a:t>
            </a:r>
          </a:p>
          <a:p>
            <a:endParaRPr lang="en-US" dirty="0"/>
          </a:p>
        </p:txBody>
      </p:sp>
      <p:sp>
        <p:nvSpPr>
          <p:cNvPr id="6" name="Espace réservé du numéro de diapositive 5">
            <a:extLst>
              <a:ext uri="{FF2B5EF4-FFF2-40B4-BE49-F238E27FC236}">
                <a16:creationId xmlns:a16="http://schemas.microsoft.com/office/drawing/2014/main" id="{EB44EB2F-9A26-BEBC-F639-9B6567D39D1F}"/>
              </a:ext>
            </a:extLst>
          </p:cNvPr>
          <p:cNvSpPr>
            <a:spLocks noGrp="1"/>
          </p:cNvSpPr>
          <p:nvPr>
            <p:ph type="sldNum" sz="quarter" idx="12"/>
          </p:nvPr>
        </p:nvSpPr>
        <p:spPr/>
        <p:txBody>
          <a:bodyPr/>
          <a:lstStyle/>
          <a:p>
            <a:fld id="{5D6484A1-CC52-44C7-BFE1-91FF3DDB54BD}" type="slidenum">
              <a:rPr lang="en-US" smtClean="0"/>
              <a:t>11</a:t>
            </a:fld>
            <a:endParaRPr lang="en-US"/>
          </a:p>
        </p:txBody>
      </p:sp>
    </p:spTree>
    <p:extLst>
      <p:ext uri="{BB962C8B-B14F-4D97-AF65-F5344CB8AC3E}">
        <p14:creationId xmlns:p14="http://schemas.microsoft.com/office/powerpoint/2010/main" val="4193599906"/>
      </p:ext>
    </p:extLst>
  </p:cSld>
  <p:clrMapOvr>
    <a:masterClrMapping/>
  </p:clrMapOvr>
</p:sld>
</file>

<file path=ppt/theme/theme1.xml><?xml version="1.0" encoding="utf-8"?>
<a:theme xmlns:a="http://schemas.openxmlformats.org/drawingml/2006/main" name="Cadrage">
  <a:themeElements>
    <a:clrScheme name="Personnalisé 1">
      <a:dk1>
        <a:sysClr val="windowText" lastClr="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adrage">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adra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3035</TotalTime>
  <Words>865</Words>
  <Application>Microsoft Office PowerPoint</Application>
  <PresentationFormat>Grand écran</PresentationFormat>
  <Paragraphs>62</Paragraphs>
  <Slides>11</Slides>
  <Notes>2</Notes>
  <HiddenSlides>0</HiddenSlides>
  <MMClips>0</MMClips>
  <ScaleCrop>false</ScaleCrop>
  <HeadingPairs>
    <vt:vector size="6" baseType="variant">
      <vt:variant>
        <vt:lpstr>Polices utilisées</vt:lpstr>
      </vt:variant>
      <vt:variant>
        <vt:i4>9</vt:i4>
      </vt:variant>
      <vt:variant>
        <vt:lpstr>Thème</vt:lpstr>
      </vt:variant>
      <vt:variant>
        <vt:i4>2</vt:i4>
      </vt:variant>
      <vt:variant>
        <vt:lpstr>Titres des diapositives</vt:lpstr>
      </vt:variant>
      <vt:variant>
        <vt:i4>11</vt:i4>
      </vt:variant>
    </vt:vector>
  </HeadingPairs>
  <TitlesOfParts>
    <vt:vector size="22" baseType="lpstr">
      <vt:lpstr>Arial</vt:lpstr>
      <vt:lpstr>Calibri</vt:lpstr>
      <vt:lpstr>Calibri (Corps)</vt:lpstr>
      <vt:lpstr>Calibri Light</vt:lpstr>
      <vt:lpstr>Cambria</vt:lpstr>
      <vt:lpstr>Franklin Gothic Book</vt:lpstr>
      <vt:lpstr>Franklin Gothic Book (En-têtes)</vt:lpstr>
      <vt:lpstr>Segoe UI</vt:lpstr>
      <vt:lpstr>Wingdings</vt:lpstr>
      <vt:lpstr>Cadrage</vt:lpstr>
      <vt:lpstr>Thème Office</vt:lpstr>
      <vt:lpstr>Pilotage du crédit immobilier </vt:lpstr>
      <vt:lpstr>PLAN</vt:lpstr>
      <vt:lpstr>Contexte et problématique</vt:lpstr>
      <vt:lpstr> </vt:lpstr>
      <vt:lpstr>Présentation PowerPoint</vt:lpstr>
      <vt:lpstr>Présentation PowerPoint</vt:lpstr>
      <vt:lpstr>Présentation PowerPoint</vt:lpstr>
      <vt:lpstr>Performance des Agences</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Idrissa TRAORE</dc:creator>
  <cp:lastModifiedBy>Idrissa TRAORE</cp:lastModifiedBy>
  <cp:revision>43</cp:revision>
  <dcterms:created xsi:type="dcterms:W3CDTF">2026-01-22T15:45:18Z</dcterms:created>
  <dcterms:modified xsi:type="dcterms:W3CDTF">2026-01-24T21:45:46Z</dcterms:modified>
</cp:coreProperties>
</file>